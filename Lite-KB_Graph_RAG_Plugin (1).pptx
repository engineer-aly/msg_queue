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Lite-KB: a graph RAG plugin for LiteAi. Ingests Signavio BPMN + spec decks + documents. Fully local, deterministic on structure, citations on everything. Pilot already validated — asking to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failure modes: knowledge scattered, structure hallucinated, deep content lost. Estimate: 10-30 min per manual lookup.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plugin, two answer paths: deterministic graph for structure, hybrid retrieval for narrative. Everything lands in an embedded ArcadeDB. Ingestion: Signavio MCP sync with diffing, deep pptx parser, doc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differentiator: for audit-critical structural questions the LLM is bypassed entirely. 100% accuracy by construction, zero token cost, bounded subgraph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Citations are never generated: they are captured at parse time and travel inside the chunk. UID lookups are exact SQL joins. Printed vs physical slide numbers reconciled.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ppt_parser goes below the abstractions: geometry-based reading order, SmartArt, chart XML, embedded OLE payloads, UID preservation. Ingestion is hardened against document-based attacks and resumable at scale.
If asked “what about pictures / scans?”: raw images are not read yet (OCR is Phase 2). Process diagrams are unaffected — Signavio exports structured BPMN 2.0 XML, so diagrams come in as data, not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properties management cares about: cost discipline (token optimizations, zero-token structural path) and governance (fully local, air-gapped, hardened).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theoretical: full Signavio repo + Dictionary Index, SWE.1 &amp; SWE.2 structured, validated by the process owner (Amr Mohamed) and the chief architect in Cairo (Wael Kadry). Impact figures are estimates, to be measured in rollout.
Anecdote to tell live: Wael installed the plugin himself in minutes — all he had to enter was his username and password; libraries and setup were fully automatic. He was impressed by how direct the installation was.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capability matrix: everything a standard pipeline loses, Lite-KB keeps — deterministically.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done and validated. Lite-KB is already staged on a LiteAi marketplace branch — publishing is one approval away. Ask: green light + prioritization of next documents. Phase 3 unlocks audit-grade compliance reporting.
If asked about images / scanned content: images are not parsed yet — planned for Phase 2 (OCR). Process diagrams are NOT affected: Signavio is ingested as structured BPMN 2.0 XML, not as pictures — which is exactly why structural answers are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8961120" y="1143000"/>
            <a:ext cx="1371600" cy="41148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1143000"/>
            <a:ext cx="1051560" cy="82296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1018520" y="1965960"/>
            <a:ext cx="365760" cy="155448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0" y="2697480"/>
            <a:ext cx="1417320" cy="82296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1554480"/>
            <a:ext cx="640080" cy="114300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144000" y="2697480"/>
            <a:ext cx="457200" cy="155448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10515600" y="3520440"/>
            <a:ext cx="502920" cy="137160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4251960"/>
            <a:ext cx="1371600" cy="64008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0" y="4892040"/>
            <a:ext cx="960120" cy="64008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9784080" y="4892040"/>
            <a:ext cx="731520" cy="82296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0" y="4251960"/>
            <a:ext cx="640080" cy="146304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2697480"/>
            <a:ext cx="914400" cy="2194560"/>
          </a:xfrm>
          <a:prstGeom prst="line">
            <a:avLst/>
          </a:prstGeom>
          <a:noFill/>
          <a:ln w="15875">
            <a:solidFill>
              <a:srgbClr val="1D3A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92540" y="148590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264140" y="107442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315700" y="189738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17" name="Shape 15"/>
          <p:cNvSpPr/>
          <p:nvPr/>
        </p:nvSpPr>
        <p:spPr>
          <a:xfrm>
            <a:off x="9491472" y="2587752"/>
            <a:ext cx="219456" cy="21945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18" name="Shape 16"/>
          <p:cNvSpPr/>
          <p:nvPr/>
        </p:nvSpPr>
        <p:spPr>
          <a:xfrm>
            <a:off x="10949940" y="345186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19" name="Shape 17"/>
          <p:cNvSpPr/>
          <p:nvPr/>
        </p:nvSpPr>
        <p:spPr>
          <a:xfrm>
            <a:off x="9075420" y="418338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05872" y="4782312"/>
            <a:ext cx="219456" cy="219456"/>
          </a:xfrm>
          <a:prstGeom prst="ellipse">
            <a:avLst/>
          </a:prstGeom>
          <a:solidFill>
            <a:srgbClr val="4FD1C5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07140" y="546354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22" name="Shape 20"/>
          <p:cNvSpPr/>
          <p:nvPr/>
        </p:nvSpPr>
        <p:spPr>
          <a:xfrm>
            <a:off x="9715500" y="5646420"/>
            <a:ext cx="137160" cy="137160"/>
          </a:xfrm>
          <a:prstGeom prst="ellipse">
            <a:avLst/>
          </a:prstGeom>
          <a:solidFill>
            <a:srgbClr val="24505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1234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LITEAI PLUGIN  ·  PILOT REVIEW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16002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Lite-KB</a:t>
            </a:r>
            <a:endParaRPr lang="en-US" sz="5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RAG for Enterprise Process Knowledge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32918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fully local process intelligence over Signavio BPMN models and specification decks — with audit-grade citations on every answer.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85800" y="4526280"/>
            <a:ext cx="2788920" cy="475488"/>
          </a:xfrm>
          <a:prstGeom prst="roundRect">
            <a:avLst>
              <a:gd name="adj" fmla="val 50000"/>
            </a:avLst>
          </a:prstGeom>
          <a:solidFill>
            <a:srgbClr val="1B354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452628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local &amp; air-gapped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749040" y="4526280"/>
            <a:ext cx="3794760" cy="475488"/>
          </a:xfrm>
          <a:prstGeom prst="roundRect">
            <a:avLst>
              <a:gd name="adj" fmla="val 50000"/>
            </a:avLst>
          </a:prstGeom>
          <a:solidFill>
            <a:srgbClr val="1B35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749040" y="452628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Zero-hallucination structural answers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818120" y="4526280"/>
            <a:ext cx="3383280" cy="475488"/>
          </a:xfrm>
          <a:prstGeom prst="roundRect">
            <a:avLst>
              <a:gd name="adj" fmla="val 50000"/>
            </a:avLst>
          </a:prstGeom>
          <a:solidFill>
            <a:srgbClr val="1B354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818120" y="452628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pilot — SWE.1 &amp; SWE.2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knowledge is trapped — and standard RAG can’t be trusted with 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3864" cy="3794760"/>
          </a:xfrm>
          <a:prstGeom prst="roundRect">
            <a:avLst>
              <a:gd name="adj" fmla="val 2625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E4F2F0"/>
          </a:solidFill>
          <a:ln/>
        </p:spPr>
      </p:sp>
      <p:pic>
        <p:nvPicPr>
          <p:cNvPr id="5" name="Image 0" descr="icons/FiLayers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" y="1815998"/>
            <a:ext cx="373075" cy="37307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Siloed documentation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926080"/>
            <a:ext cx="2843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workflows live across Signavio portals, multi-hundred-slide PowerPoint spec decks, and dense PDF / Word procedures.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52544" y="1325880"/>
            <a:ext cx="3483864" cy="3794760"/>
          </a:xfrm>
          <a:prstGeom prst="roundRect">
            <a:avLst>
              <a:gd name="adj" fmla="val 2625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72584" y="1691640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E4F2F0"/>
          </a:solidFill>
          <a:ln/>
        </p:spPr>
      </p:sp>
      <p:pic>
        <p:nvPicPr>
          <p:cNvPr id="10" name="Image 1" descr="icons/FiAlertTriangle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1815998"/>
            <a:ext cx="373075" cy="37307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72584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Hallucinated structure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72584" y="2926080"/>
            <a:ext cx="2843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 guesses step order, RACI roles and branch conditions, and shreds requirement IDs (Req_L0_SRS_…) into meaningless tokens.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56448" y="1325880"/>
            <a:ext cx="3483864" cy="3794760"/>
          </a:xfrm>
          <a:prstGeom prst="roundRect">
            <a:avLst>
              <a:gd name="adj" fmla="val 2625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76488" y="1691640"/>
            <a:ext cx="621792" cy="621792"/>
          </a:xfrm>
          <a:prstGeom prst="roundRect">
            <a:avLst>
              <a:gd name="adj" fmla="val 13235"/>
            </a:avLst>
          </a:prstGeom>
          <a:solidFill>
            <a:srgbClr val="E4F2F0"/>
          </a:solidFill>
          <a:ln/>
        </p:spPr>
      </p:sp>
      <p:pic>
        <p:nvPicPr>
          <p:cNvPr id="15" name="Image 2" descr="icons/FiEyeOff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846" y="1815998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76488" y="251460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Invisible content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76488" y="2926080"/>
            <a:ext cx="28437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text parsers scramble multi-column slides and skip SmartArt, cached charts and embedded Excel / PDF payloads entirely.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4864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3F7F8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today:  </a:t>
            </a:r>
            <a:pPr indent="0" marL="0">
              <a:buNone/>
            </a:pPr>
            <a:r>
              <a:rPr lang="en-US" sz="13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estimated 10–30 minutes to find a single process rule by hand — and a conventional RAG answer is not reliable enough for audits.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inside LiteAi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717036" y="1005840"/>
            <a:ext cx="4754880" cy="475488"/>
          </a:xfrm>
          <a:prstGeom prst="roundRect">
            <a:avLst>
              <a:gd name="adj" fmla="val 15385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54196" y="100584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LiteAi harness — agent &amp; chat interface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4476" y="1481328"/>
            <a:ext cx="0" cy="274320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76956" y="1755648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E4F2F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14116" y="1755648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Lite-KB plugin — FastMCP server</a:t>
            </a:r>
            <a:pPr algn="ctr" indent="0" marL="0">
              <a:lnSpc>
                <a:spcPct val="108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router classifies each query:  GRAPH · VECTOR · HYBRID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468880"/>
            <a:ext cx="0" cy="274320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891272" y="2468880"/>
            <a:ext cx="0" cy="274320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7432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7432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graph engine</a:t>
            </a:r>
            <a:pPr algn="ctr" indent="0" marL="0">
              <a:lnSpc>
                <a:spcPct val="108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order · RACI · IGOE · handoffs — answered without any LLM call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82512" y="2743200"/>
            <a:ext cx="5257800" cy="1005840"/>
          </a:xfrm>
          <a:prstGeom prst="roundRect">
            <a:avLst>
              <a:gd name="adj" fmla="val 7273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74320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semantic retrieval</a:t>
            </a:r>
            <a:pPr algn="ctr" indent="0" marL="0">
              <a:lnSpc>
                <a:spcPct val="108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(nomic-embed) + BM25 keyword → RRF fusion → cross-encoder rerank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77540" y="3749040"/>
            <a:ext cx="0" cy="292608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11412" y="3749040"/>
            <a:ext cx="0" cy="292608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03120" y="4041648"/>
            <a:ext cx="7982712" cy="640080"/>
          </a:xfrm>
          <a:prstGeom prst="roundRect">
            <a:avLst>
              <a:gd name="adj" fmla="val 11429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240280" y="4041648"/>
            <a:ext cx="7708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ArcadeDB embedded store</a:t>
            </a:r>
            <a:pPr algn="ctr" indent="0" marL="0">
              <a:lnSpc>
                <a:spcPct val="108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graph edges + vector index + document chunks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138928"/>
            <a:ext cx="3209544" cy="658368"/>
          </a:xfrm>
          <a:prstGeom prst="roundRect">
            <a:avLst>
              <a:gd name="adj" fmla="val 11111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138928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Signavio live sync</a:t>
            </a:r>
            <a:pPr algn="ctr" indent="0" marL="0">
              <a:lnSpc>
                <a:spcPct val="108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source · incremental diff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53412" y="4681728"/>
            <a:ext cx="0" cy="457200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4489704" y="5138928"/>
            <a:ext cx="3209544" cy="658368"/>
          </a:xfrm>
          <a:prstGeom prst="roundRect">
            <a:avLst>
              <a:gd name="adj" fmla="val 11111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26864" y="5138928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ppt_parser</a:t>
            </a:r>
            <a:pPr algn="ctr" indent="0" marL="0">
              <a:lnSpc>
                <a:spcPct val="108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OOXML extraction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4476" y="4681728"/>
            <a:ext cx="0" cy="457200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8430768" y="5138928"/>
            <a:ext cx="3209544" cy="658368"/>
          </a:xfrm>
          <a:prstGeom prst="roundRect">
            <a:avLst>
              <a:gd name="adj" fmla="val 11111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67928" y="5138928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/ Word pipeline</a:t>
            </a:r>
            <a:pPr algn="ctr" indent="0" marL="0">
              <a:lnSpc>
                <a:spcPct val="108000"/>
              </a:lnSpc>
              <a:buNone/>
            </a:pP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sections · breadcrumbs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35540" y="4681728"/>
            <a:ext cx="0" cy="457200"/>
          </a:xfrm>
          <a:prstGeom prst="line">
            <a:avLst/>
          </a:prstGeom>
          <a:noFill/>
          <a:ln w="22225">
            <a:solidFill>
              <a:srgbClr val="9AB0BC"/>
            </a:solidFill>
            <a:prstDash val="solid"/>
            <a:headEnd type="triangle"/>
          </a:ln>
        </p:spPr>
      </p:sp>
      <p:pic>
        <p:nvPicPr>
          <p:cNvPr id="27" name="Image 0" descr="icons/FiLock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6053328"/>
            <a:ext cx="237744" cy="237744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480560" y="60167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100% locally — local embedding &amp; reranker models, no cloud APIs required.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questions never touch the LLM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4F2F0"/>
          </a:solidFill>
          <a:ln/>
        </p:spPr>
      </p:sp>
      <p:pic>
        <p:nvPicPr>
          <p:cNvPr id="4" name="Image 0" descr="icons/FiShuffle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42646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 routing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325880" y="1792224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is classified up front (lite_kb.rag.router) as GRAPH, VECTOR or HYBRID — structure and narrative take different paths.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035808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4F2F0"/>
          </a:solidFill>
          <a:ln/>
        </p:spPr>
      </p:sp>
      <p:pic>
        <p:nvPicPr>
          <p:cNvPr id="8" name="Image 1" descr="icons/FiGitBranch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45536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299923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route — deterministic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3364992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“Who is responsible?”, next / previous steps, branch conditions, IGOE inputs: answered by graph algorithms directly on ingested BPMN nodes. No generation, no guessing.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4608576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4F2F0"/>
          </a:solidFill>
          <a:ln/>
        </p:spPr>
      </p:sp>
      <p:pic>
        <p:nvPicPr>
          <p:cNvPr id="12" name="Image 2" descr="icons/FiSearch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1830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45720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/ hybrid route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493776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 questions (“explain the purpose of…”) use semantic passages, with graph-neighbour expansion and cross-encoder reranking.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635240" y="1463040"/>
            <a:ext cx="4005072" cy="1389888"/>
          </a:xfrm>
          <a:prstGeom prst="roundRect">
            <a:avLst>
              <a:gd name="adj" fmla="val 6579"/>
            </a:avLst>
          </a:prstGeom>
          <a:solidFill>
            <a:srgbClr val="E4F2F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909560" y="15910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7909560" y="2176272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answers on process structure — straight from the graph DB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635240" y="3035808"/>
            <a:ext cx="4005072" cy="1389888"/>
          </a:xfrm>
          <a:prstGeom prst="roundRect">
            <a:avLst>
              <a:gd name="adj" fmla="val 6579"/>
            </a:avLst>
          </a:prstGeom>
          <a:solidFill>
            <a:srgbClr val="E4F2F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7909560" y="316382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tokens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7909560" y="374904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cost for structural queries — no prompt is built at all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635240" y="4608576"/>
            <a:ext cx="4005072" cy="1389888"/>
          </a:xfrm>
          <a:prstGeom prst="roundRect">
            <a:avLst>
              <a:gd name="adj" fmla="val 6579"/>
            </a:avLst>
          </a:prstGeom>
          <a:solidFill>
            <a:srgbClr val="E4F2F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7909560" y="473659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3 hops</a:t>
            </a:r>
            <a:endParaRPr lang="en-US" sz="3200" dirty="0"/>
          </a:p>
        </p:txBody>
      </p:sp>
      <p:sp>
        <p:nvSpPr>
          <p:cNvPr id="23" name="Text 18"/>
          <p:cNvSpPr txBox="1"/>
          <p:nvPr/>
        </p:nvSpPr>
        <p:spPr>
          <a:xfrm>
            <a:off x="7909560" y="532180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subgraphs returned — never a 100-step process dump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carries audit-grade provenance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737360" y="1234440"/>
            <a:ext cx="8714232" cy="566928"/>
          </a:xfrm>
          <a:prstGeom prst="roundRect">
            <a:avLst>
              <a:gd name="adj" fmla="val 16129"/>
            </a:avLst>
          </a:prstGeom>
          <a:solidFill>
            <a:srgbClr val="EEF2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737360" y="1234440"/>
            <a:ext cx="8714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[specs/q3.pptx  |  slide 11  |  Req_L0_SRS_Overall_8-V01]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4048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/>
        </p:spPr>
      </p:sp>
      <p:pic>
        <p:nvPicPr>
          <p:cNvPr id="7" name="Image 0" descr="icons/FiMapPin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2499970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44752" y="238658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Stamped at parse time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44752" y="2734056"/>
            <a:ext cx="4251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file, slide / page, section and even bounding box are captured during ingestion and stored in deterministic tables — never reconstructed by an LLM afterwards.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6245352" y="2148840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01384" y="240487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/>
        </p:spPr>
      </p:sp>
      <p:pic>
        <p:nvPicPr>
          <p:cNvPr id="12" name="Image 1" descr="icons/FiDatabase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482" y="249997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41464" y="238658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with the text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141464" y="2734056"/>
            <a:ext cx="4251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citation header is physically part of each chunk, so vector and keyword retrieval always return passages pre-stamped with their verified origin.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48640" y="4069080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432511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/>
        </p:spPr>
      </p:sp>
      <p:pic>
        <p:nvPicPr>
          <p:cNvPr id="17" name="Image 2" descr="icons/FiHash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442021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44752" y="43068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ID lookup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444752" y="4654296"/>
            <a:ext cx="4251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UIDs (SYS-REQ-0042, SWE.1-BR-17) resolve through an exact SQL join on a dedicated chunk_uid table — bypassing semantic ranking errors entirely.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245352" y="4069080"/>
            <a:ext cx="5394960" cy="1755648"/>
          </a:xfrm>
          <a:prstGeom prst="roundRect">
            <a:avLst>
              <a:gd name="adj" fmla="val 5208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01384" y="4325112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4F2F0"/>
          </a:solidFill>
          <a:ln/>
        </p:spPr>
      </p:sp>
      <p:pic>
        <p:nvPicPr>
          <p:cNvPr id="22" name="Image 3" descr="icons/FiTarget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482" y="442021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41464" y="4306824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users can check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7141464" y="4654296"/>
            <a:ext cx="42519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vs printed slide numbers are reconciled (firstSlideNum), so a cited slide matches what the reader sees. Graph answers cite exact node names too.</a:t>
            </a:r>
            <a:endParaRPr lang="en-US" sz="108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auditors: </a:t>
            </a:r>
            <a:pPr indent="0" marL="0"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me the official slide where this rule is stated” is answered instantly — e.g. </a:t>
            </a:r>
            <a:pPr indent="0" marL="0">
              <a:buNone/>
            </a:pPr>
            <a:r>
              <a:rPr lang="en-US" sz="1200" i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“Produced by: Verification Process (Step 3.1: Code Review)”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in a deck is invisible to 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/>
        </p:spPr>
      </p:sp>
      <p:pic>
        <p:nvPicPr>
          <p:cNvPr id="4" name="Image 0" descr="icons/FiAlignLef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053" y="1474013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9844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reading order rebuilt  —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2D spatial geometry — multi-column slides and grouped shapes are never scrambled.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340864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/>
        </p:spPr>
      </p:sp>
      <p:pic>
        <p:nvPicPr>
          <p:cNvPr id="7" name="Image 1" descr="icons/FiShare2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3" y="2443277"/>
            <a:ext cx="307238" cy="3072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6771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SmartArt &amp; diagrams extracted  —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underlying DrawingML parts (diagramData) that standard Python libraries skip.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3310128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/>
        </p:spPr>
      </p:sp>
      <p:pic>
        <p:nvPicPr>
          <p:cNvPr id="10" name="Image 2" descr="icons/FiBarChart2_0280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3" y="3412541"/>
            <a:ext cx="307238" cy="3072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23697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read as data  —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names, category labels and values taken straight from cached chart XML.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427939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/>
        </p:spPr>
      </p:sp>
      <p:pic>
        <p:nvPicPr>
          <p:cNvPr id="13" name="Image 3" descr="icons/FiPaperclip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3" y="4381805"/>
            <a:ext cx="307238" cy="3072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42062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files recovered  —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workbooks, Word docs and PDFs inside decks land in a SHA-256 content-addressed AssetStore and get parsed too.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548640" y="5248656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E4F2F0"/>
          </a:solidFill>
          <a:ln/>
        </p:spPr>
      </p:sp>
      <p:pic>
        <p:nvPicPr>
          <p:cNvPr id="16" name="Image 4" descr="icons/FiHash_02809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3" y="5351069"/>
            <a:ext cx="307238" cy="3072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517550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IDs preserved  —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UIDs plus tokenizer-safe split variants — exact ID search always works.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7635240" y="1371600"/>
            <a:ext cx="4005072" cy="4846320"/>
          </a:xfrm>
          <a:prstGeom prst="roundRect">
            <a:avLst>
              <a:gd name="adj" fmla="val 2283"/>
            </a:avLst>
          </a:prstGeom>
          <a:solidFill>
            <a:srgbClr val="E4F2F0"/>
          </a:solidFill>
          <a:ln/>
        </p:spPr>
      </p:sp>
      <p:sp>
        <p:nvSpPr>
          <p:cNvPr id="19" name="Shape 12"/>
          <p:cNvSpPr/>
          <p:nvPr/>
        </p:nvSpPr>
        <p:spPr>
          <a:xfrm>
            <a:off x="7955280" y="169164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/>
        </p:spPr>
      </p:sp>
      <p:pic>
        <p:nvPicPr>
          <p:cNvPr id="20" name="Image 5" descr="icons/FiShield_02809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8666" y="1805026"/>
            <a:ext cx="340157" cy="340157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955280" y="2423160"/>
            <a:ext cx="3364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Hardened, resumable ingestion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7955280" y="3063240"/>
            <a:ext cx="34107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XXE defense — XML entity resolution disabled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Zip-bomb &amp; zip-slip validation before extraction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routed by true binary signature, not extension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process-pool parsing with single-writer lock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Resumable batch runs across thousands of decks</a:t>
            </a:r>
            <a:endParaRPr lang="en-US" sz="1150" dirty="0"/>
          </a:p>
        </p:txBody>
      </p:sp>
      <p:sp>
        <p:nvSpPr>
          <p:cNvPr id="23" name="Text 15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on tokens, tight on security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/>
        </p:spPr>
      </p:sp>
      <p:pic>
        <p:nvPicPr>
          <p:cNvPr id="5" name="Image 0" descr="icons/FiZap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180502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91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Token-efficient by design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51460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queries: zero LLM tokens — answered inside the database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fetches top-15 candidates, reranker compresses to the best 5 before any prompt is built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titles &amp; repeated deck boilerplate (logos, footers, confidentiality notices) stripped before indexing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Symbol-font noise (Wingdings &amp; co.) filtered into metadata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breadcrumbs bounded to 120 chars — no oversized headers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5352" y="1371600"/>
            <a:ext cx="5394960" cy="4800600"/>
          </a:xfrm>
          <a:prstGeom prst="roundRect">
            <a:avLst>
              <a:gd name="adj" fmla="val 1905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65392" y="169164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/>
        </p:spPr>
      </p:sp>
      <p:pic>
        <p:nvPicPr>
          <p:cNvPr id="10" name="Image 1" descr="icons/FiLock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180502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96912" y="1691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&amp; air-gapped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611112" y="2514600"/>
            <a:ext cx="4709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on-premise: embedded ArcadeDB, local embedding model (nomic-embed-text-v1.5) and local reranker (ms-marco-MiniLM)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cloud API needed for retrieval — process IP and trade secrets never leave the environment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Unvetted supplier decks and vendor attachments can be ingested safely (hardened parsers)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corporate policy for AI usage on proprietary process data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pilot — real scope, real sign-off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760720" cy="3886200"/>
          </a:xfrm>
          <a:prstGeom prst="roundRect">
            <a:avLst>
              <a:gd name="adj" fmla="val 2353"/>
            </a:avLst>
          </a:prstGeom>
          <a:solidFill>
            <a:srgbClr val="FBFCFD"/>
          </a:solidFill>
          <a:ln w="12700">
            <a:solidFill>
              <a:srgbClr val="D7E0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/>
        </p:spPr>
      </p:sp>
      <p:pic>
        <p:nvPicPr>
          <p:cNvPr id="5" name="Image 0" descr="icons/FiDatabase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066" y="175930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Ingested today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23160"/>
            <a:ext cx="5074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Signavio repository — all process models, plus the official Signavio Dictionary Index for term &amp; attribute resolution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ASPICE workflows structured end-to-end: SWE.1 (Software Requirements Analysis) and SWE.2 (Software Architectural Design)</a:t>
            </a:r>
            <a:endParaRPr lang="en-US" sz="1200" dirty="0"/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Signavio flows linked to detailed PowerPoint specification decks and requirement trace matrices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325880"/>
            <a:ext cx="5102352" cy="3886200"/>
          </a:xfrm>
          <a:prstGeom prst="roundRect">
            <a:avLst>
              <a:gd name="adj" fmla="val 2353"/>
            </a:avLst>
          </a:prstGeom>
          <a:solidFill>
            <a:srgbClr val="E4F2F0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0" y="1645920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4F2F0"/>
          </a:solidFill>
          <a:ln/>
        </p:spPr>
      </p:sp>
      <p:pic>
        <p:nvPicPr>
          <p:cNvPr id="10" name="Image 1" descr="icons/FiUsers_0280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386" y="175930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64592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&amp; signed off by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903720" y="228600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 Mohamed — Process Owner
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process flow accuracy, RACI role mappings and sequence correctness.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329184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Wael Kadry — Chief Architect, Cairo
</a:t>
            </a:r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architectural traceability between SWE.1 requirements, SWE.2 design paths and the underlying specification decks.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903720" y="4553712"/>
            <a:ext cx="4389120" cy="0"/>
          </a:xfrm>
          <a:prstGeom prst="line">
            <a:avLst/>
          </a:prstGeom>
          <a:noFill/>
          <a:ln w="12700">
            <a:solidFill>
              <a:srgbClr val="BCDCD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903720" y="46451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Frictionless install: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only — no manual library setup or configuration.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54406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3F7F8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5440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≈70–80% less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audit-preparation effort (estimated)*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245352" y="544068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F3F7F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19672" y="5440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 → seconds  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process-rule lookup, with exact citation (estimated)*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3093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Internal estimates from pilot usage — to be confirmed with measured data during rollout.</a:t>
            </a:r>
            <a:endParaRPr lang="en-US" sz="950" dirty="0"/>
          </a:p>
        </p:txBody>
      </p:sp>
      <p:sp>
        <p:nvSpPr>
          <p:cNvPr id="21" name="Text 1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 vs Lite-KB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3840480"/>
                <a:gridCol w="44165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document RAG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Lite-KB + ppt_parser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BPMN / Signavio models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text conversion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graph + live MCP sync &amp; diff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order &amp; RACI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777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 —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hallucination-prone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deterministic graph queries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SmartArt &amp; cached charts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Skipped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Extracted via direct OOXML parsing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 Excel / Word / PDF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Ignored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Extracted &amp; indexed (AssetStore)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 IDs (UIDs)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Shredded by the tokenizer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Canonical index + exact trace edges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Citations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Best-effort, unverified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file · slide · section, pre-stamped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output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4A5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only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2809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 </a:t>
                      </a: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On-demand Mermaid flowcharts &amp; IGOE views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goes next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83864" cy="3337560"/>
          </a:xfrm>
          <a:prstGeom prst="roundRect">
            <a:avLst>
              <a:gd name="adj" fmla="val 2740"/>
            </a:avLst>
          </a:prstGeom>
          <a:solidFill>
            <a:srgbClr val="17303E"/>
          </a:solidFill>
          <a:ln/>
        </p:spPr>
      </p:sp>
      <p:pic>
        <p:nvPicPr>
          <p:cNvPr id="4" name="Image 0" descr="icons/FiCheckCircle_4FD1C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27632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22402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Delivered ✓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670048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pilot: full Signavio repository + Dictionary Index, SWE.1 &amp; SWE.2 structured, expert-validated by process owner &amp; chief architect.</a:t>
            </a:r>
            <a:endParaRPr lang="en-US" sz="1180" dirty="0"/>
          </a:p>
        </p:txBody>
      </p:sp>
      <p:sp>
        <p:nvSpPr>
          <p:cNvPr id="7" name="Shape 4"/>
          <p:cNvSpPr/>
          <p:nvPr/>
        </p:nvSpPr>
        <p:spPr>
          <a:xfrm>
            <a:off x="4352544" y="1280160"/>
            <a:ext cx="3483864" cy="3337560"/>
          </a:xfrm>
          <a:prstGeom prst="roundRect">
            <a:avLst>
              <a:gd name="adj" fmla="val 2740"/>
            </a:avLst>
          </a:prstGeom>
          <a:solidFill>
            <a:srgbClr val="17303E"/>
          </a:solidFill>
          <a:ln/>
        </p:spPr>
      </p:sp>
      <p:pic>
        <p:nvPicPr>
          <p:cNvPr id="8" name="Image 1" descr="icons/FiRefreshCw_4FD1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1627632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672584" y="22402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Next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4672584" y="2670048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SOPs, PDF &amp; Word procedures; add image / OCR ingestion; expand trace graphs between SWE.1 / SWE.2 specs and engineering SOPs; background live sync.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8156448" y="1280160"/>
            <a:ext cx="3483864" cy="3337560"/>
          </a:xfrm>
          <a:prstGeom prst="roundRect">
            <a:avLst>
              <a:gd name="adj" fmla="val 2740"/>
            </a:avLst>
          </a:prstGeom>
          <a:solidFill>
            <a:srgbClr val="17303E"/>
          </a:solidFill>
          <a:ln/>
        </p:spPr>
      </p:sp>
      <p:pic>
        <p:nvPicPr>
          <p:cNvPr id="12" name="Image 2" descr="icons/FiTrendingUp_4FD1C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627632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476488" y="22402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FD1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Scale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8476488" y="2670048"/>
            <a:ext cx="28437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C9D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out across engineering, quality and audit teams; automated ISO / ASPICE traceability &amp; compliance reporting.</a:t>
            </a:r>
            <a:endParaRPr lang="en-US" sz="1180" dirty="0"/>
          </a:p>
        </p:txBody>
      </p:sp>
      <p:sp>
        <p:nvSpPr>
          <p:cNvPr id="15" name="Shape 10"/>
          <p:cNvSpPr/>
          <p:nvPr/>
        </p:nvSpPr>
        <p:spPr>
          <a:xfrm>
            <a:off x="548640" y="502920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028090"/>
          </a:solidFill>
          <a:ln/>
        </p:spPr>
      </p:sp>
      <p:pic>
        <p:nvPicPr>
          <p:cNvPr id="16" name="Image 3" descr="icons/FiFlag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376672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00200" y="5029200"/>
            <a:ext cx="9784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to publish — Lite-KB is already staged on a LiteAi marketplace branch — plus a prioritized list of the next process documents for Phase 2.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2026-09-13T13:34:27Z</dcterms:created>
  <dcterms:modified xsi:type="dcterms:W3CDTF">2026-09-13T13:34:27Z</dcterms:modified>
</cp:coreProperties>
</file>