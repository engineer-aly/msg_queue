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(30 sec): Lite-KB is a graph-RAG plugin for LiteAi that turns our whole Signavio repository and specification decks into an assistant that answers process questions instantly — with an exact citation on every answer. Structural questions are answered deterministically from a graph database, so hallucination is impossible by design. It runs local-first, uses only the official corporate AI, and has already been validated by the process owner and the chief architect. Today I am asking for approval to publish it on the LiteAi marketplace.
NAMING: Lite-KB = the knowledge base plugin; ppt_parser = the deep PowerPoint extraction engine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three failure modes — knowledge scattered across systems, structure hallucinated by standard RAG, and deep content (SmartArt, charts, embedded files) invisible to flat parsers. The 10–30 min figure is an estimate — say so openly.
IF ASKED why not search Signavio directly: portal search is per-model keyword search — it cannot join process models with spec decks, PDFs or requirement matrices, and gives no cross-source citations.
IF ASKED why not the corporate AI directly: the official Gemini gem is capped at ~10 documents — it cannot hold the repository. Full answer on the backup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(30 sec): a question enters through LiteAi → the router classifies it → structural questions go to the graph engine (pure database work, no LLM) → narrative questions go to hybrid retrieval (local vectors + BM25 keyword, RRF fusion, cross-encoder rerank) → both read one embedded ArcadeDB → every answer returns with its citation.
WHY THIS STACK: ArcadeDB = graph + vector + documents in ONE embedded database, nothing to operate; FastMCP = standard protocol, so any agent or harness can call the same tools.
BOUNDARY IF ASKED: retrieval, reranking and graph answers are fully local; narrative text generation goes only through Gemini — the official corporate AI — inside LiteAi. No unapproved external service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audit-critical questions — who is responsible, what comes next, step order, branch conditions — never touch an LLM. They are answered straight from BPMN nodes in the database. Zero hallucination is a design property here, not a promise.
IF ASKED what if the router misroutes a structural question: worst case it falls to the hybrid route, which still returns pre-stamped, cited passages — the user verifies at the source; the structural tools can also be invoked explicitly. Router rules are deterministic intent patterns and are testable.
EXTRA: hops=3 keeps graph answers as small verified subgraphs instead of dumping 100-step processes into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citations are captured at parse time and physically travel inside each chunk — the LLM never invents them. Requirement IDs resolve through an exact SQL join, not through ranking.
IF ASKED what happens when a source document changes: incremental sync recomputes revisions by hash diff, so citations always reflect the currently ingested version; unchanged models are not re-indexed.
EXTRA: printed vs physical slide numbers are reconciled — a cited slide number matches what the reader actually sees in the deck or PDF export.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ppt_parser goes below the standard abstractions — geometry-based reading order, SmartArt from DrawingML, chart data from cached XML, OLE payload isolation, UID preservation. Ingestion is hardened and resumable at scale.
BE PRECISE IF ASKED: embedded Excel/Word/PDF payloads are today ISOLATED into the AssetStore and position-stamped — their inner content gets parsed in Phase 2.
IF ASKED about pictures / scans: raw images are not read yet (OCR is Phase 2 — the code already detects and queues OCR candidates). Process diagrams are unaffected: Signavio exports structured BPMN 2.0 XML, so diagrams arrive as data, not images.
EXTRA: legacy binary .ppt files are detected by magic bytes and converted through a bundled LibreOffice step before parsing.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two properties management cares about — cost discipline and governance. Boundary stated precisely: search, reranking and graph answers are 100% local; narrative generation runs only through Gemini, the official approved AI tool, via LiteAi.
COST IF ASKED: no server to run, no cloud spend, zero tokens on structural queries; deployment is a local plugin with pre-bundled models. The main ongoing cost is maintenance effort, which is phase-gated.
SECURITY REVIEW IF ASKED: the pipeline is hardened (XXE disabled, zip-bomb/zip-slip validation, magic-byte routing) and I welcome a formal security review before the marketplace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real scope, real sign-off. Amr Mohamed ran 7 incremental sessions phase by phase (Signavio export → retrieval → Dictionary → documents); Wael Kadry spot-checked traceability with targeted questions; Abdelrahman Abbas independently checked process Q&amp;A.
EVAL DEFENSE (97.8%): automated AI-judged evaluation — 20 generated questions per document, incl. needle-in-haystack and multi-document multi-hop retrieval. The full question set and results are available to open on the spot; every phase gets the same test gate, incl. Phase 2.
ANECDOTE TO TELL LIVE: Wael installed the plugin himself in minutes — he only entered his username and password; libraries and setup were fully automatic. He was impressed by how direct it was.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everything a standard pipeline loses, Lite-KB keeps — deterministically. The two rows that matter most for us are Step order &amp; RACI and Citations: those are the audit-critical ones.
CREDIBILITY: every row was cross-checked against the actual codebase — a code-vs-slide verification matrix is available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Phase 1 is done and validated. Lite-KB is already staged on a LiteAi marketplace branch — publishing is one approval away. The ask: green light plus prioritization of the next process documents. Phase 3 unlocks audit-grade compliance reporting.
OWNERSHIP (prepare your own answer — suggested framing): I maintain it as plugin owner with phase-gated, test-gated releases; ingestion and sync are automated, so steady-state effort is low; the marketplace gives a controlled update channel.
STALENESS IF ASKED: today re-sync runs on demand with incremental hash diffing (unchanged models are never re-indexed); background live sync is a Phase 2 item.
IF ASKED about images: not parsed yet — Phase 2 (OCR); Signavio diagrams unaffected (BPMN XML, not pictures).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Q&amp;A CHEAT SHEET — usable anywhere in the meeting:
1. Proof of accuracy? → 3 validators, 7 incremental sessions, 97.8% automated eval (question set available to open live).
2. What if it answers wrong in an audit? → structural answers are deterministic; every answer carries a citation; the tool is complementary — humans verify at the official source, so it cannot create or hide defects.
3. Does data leave the company? → retrieval is fully local; narrative goes only through the official corporate Gemini via LiteAi — never an unapproved service.
4. Why not the Gemini gem alone? → capped at ~10 documents; Lite-KB works at repository scale and feeds the corporate AI curated, cited context.
5. Why not wait for SAP Signavio AI? → cloud-side, not LiteAi-native, and cannot join decks + requirement matrices with our processes; Lite-KB is local and already validated.
6. Can I query inside an embedded Excel? → today isolated &amp; position-stamped; content parsing is Phase 2 — already on the roadmap slide.
7. Images / scanned pages? → OCR is Phase 2 (candidates already detected and queued); Signavio arrives as BPMN XML, so diagrams are unaffected.
8. Who maintains it? → give your ownership answer (suggested: plugin owner = me, phase-gated test-gated releases, low steady-state effort, marketplace as controlled update channel).
9. What does it cost? → no server, no cloud spend, zero tokens for structural queries; the cost is maintenance time.
10. Security review? → hardened pipeline (XXE off, zip-bomb/zip-slip checks, magic-byte routing); I invite a formal review before release.
CREDIBILITY CLOSER: every slide claim was cross-checked against the codebase; the verification matrix is available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1143000"/>
            <a:ext cx="1371600" cy="41148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1143000"/>
            <a:ext cx="1051560" cy="82296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1018520" y="1965960"/>
            <a:ext cx="365760" cy="155448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2697480"/>
            <a:ext cx="1417320" cy="82296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0" y="1554480"/>
            <a:ext cx="640080" cy="114300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144000" y="2697480"/>
            <a:ext cx="457200" cy="155448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15600" y="3520440"/>
            <a:ext cx="502920" cy="137160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0" y="4251960"/>
            <a:ext cx="1371600" cy="64008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0" y="4892040"/>
            <a:ext cx="960120" cy="64008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784080" y="4892040"/>
            <a:ext cx="731520" cy="82296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4251960"/>
            <a:ext cx="640080" cy="146304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0" y="2697480"/>
            <a:ext cx="914400" cy="2194560"/>
          </a:xfrm>
          <a:prstGeom prst="line">
            <a:avLst/>
          </a:prstGeom>
          <a:noFill/>
          <a:ln w="15875">
            <a:solidFill>
              <a:srgbClr val="1D3A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2540" y="148590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264140" y="107442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315700" y="189738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91472" y="2587752"/>
            <a:ext cx="219456" cy="219456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49940" y="345186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19" name="Shape 17"/>
          <p:cNvSpPr/>
          <p:nvPr/>
        </p:nvSpPr>
        <p:spPr>
          <a:xfrm>
            <a:off x="9075420" y="418338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5872" y="4782312"/>
            <a:ext cx="219456" cy="219456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07140" y="546354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22" name="Shape 20"/>
          <p:cNvSpPr/>
          <p:nvPr/>
        </p:nvSpPr>
        <p:spPr>
          <a:xfrm>
            <a:off x="9715500" y="5646420"/>
            <a:ext cx="137160" cy="137160"/>
          </a:xfrm>
          <a:prstGeom prst="ellipse">
            <a:avLst/>
          </a:prstGeom>
          <a:solidFill>
            <a:srgbClr val="24505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LITEAI PLUGIN  ·  PILOT REVIEW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160020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Lite-KB</a:t>
            </a:r>
            <a:endParaRPr lang="en-US" sz="54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RAG for Enterprise Process Knowledge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3291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Deterministic, local-first process intelligence over Signavio BPMN models and specification decks — with audit-grade citations on every answer.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85800" y="4526280"/>
            <a:ext cx="3063240" cy="475488"/>
          </a:xfrm>
          <a:prstGeom prst="roundRect">
            <a:avLst>
              <a:gd name="adj" fmla="val 50000"/>
            </a:avLst>
          </a:prstGeom>
          <a:solidFill>
            <a:srgbClr val="1B35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452628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retrieval · official corporate AI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023360" y="4526280"/>
            <a:ext cx="3794760" cy="475488"/>
          </a:xfrm>
          <a:prstGeom prst="roundRect">
            <a:avLst>
              <a:gd name="adj" fmla="val 50000"/>
            </a:avLst>
          </a:prstGeom>
          <a:solidFill>
            <a:srgbClr val="1B35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023360" y="452628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Zero-hallucination structural answers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92440" y="4526280"/>
            <a:ext cx="3383280" cy="475488"/>
          </a:xfrm>
          <a:prstGeom prst="roundRect">
            <a:avLst>
              <a:gd name="adj" fmla="val 50000"/>
            </a:avLst>
          </a:prstGeom>
          <a:solidFill>
            <a:srgbClr val="1B354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92440" y="452628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pilot — SWE.1 &amp; SWE.2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6172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knowledge is trapped — and standard RAG can’t be trusted with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83864" cy="3794760"/>
          </a:xfrm>
          <a:prstGeom prst="roundRect">
            <a:avLst>
              <a:gd name="adj" fmla="val 2625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91640"/>
            <a:ext cx="621792" cy="621792"/>
          </a:xfrm>
          <a:prstGeom prst="roundRect">
            <a:avLst>
              <a:gd name="adj" fmla="val 13235"/>
            </a:avLst>
          </a:prstGeom>
          <a:solidFill>
            <a:srgbClr val="E4F2F0"/>
          </a:solidFill>
          <a:ln/>
        </p:spPr>
      </p:sp>
      <p:pic>
        <p:nvPicPr>
          <p:cNvPr id="5" name="Image 0" descr="icons/FiLayers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038" y="1815998"/>
            <a:ext cx="373075" cy="3730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Siloed documentation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926080"/>
            <a:ext cx="2843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workflows live across Signavio portals, multi-hundred-slide PowerPoint spec decks, and dense PDF / Word procedures.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52544" y="1325880"/>
            <a:ext cx="3483864" cy="3794760"/>
          </a:xfrm>
          <a:prstGeom prst="roundRect">
            <a:avLst>
              <a:gd name="adj" fmla="val 2625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72584" y="1691640"/>
            <a:ext cx="621792" cy="621792"/>
          </a:xfrm>
          <a:prstGeom prst="roundRect">
            <a:avLst>
              <a:gd name="adj" fmla="val 13235"/>
            </a:avLst>
          </a:prstGeom>
          <a:solidFill>
            <a:srgbClr val="E4F2F0"/>
          </a:solidFill>
          <a:ln/>
        </p:spPr>
      </p:sp>
      <p:pic>
        <p:nvPicPr>
          <p:cNvPr id="10" name="Image 1" descr="icons/FiAlertTriangle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815998"/>
            <a:ext cx="373075" cy="37307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72584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structure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72584" y="2926080"/>
            <a:ext cx="2843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RAG guesses step order, RACI roles and branch conditions, and shreds requirement IDs (Req_L0_SRS_…) into meaningless tokens.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56448" y="1325880"/>
            <a:ext cx="3483864" cy="3794760"/>
          </a:xfrm>
          <a:prstGeom prst="roundRect">
            <a:avLst>
              <a:gd name="adj" fmla="val 2625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76488" y="1691640"/>
            <a:ext cx="621792" cy="621792"/>
          </a:xfrm>
          <a:prstGeom prst="roundRect">
            <a:avLst>
              <a:gd name="adj" fmla="val 13235"/>
            </a:avLst>
          </a:prstGeom>
          <a:solidFill>
            <a:srgbClr val="E4F2F0"/>
          </a:solidFill>
          <a:ln/>
        </p:spPr>
      </p:sp>
      <p:pic>
        <p:nvPicPr>
          <p:cNvPr id="15" name="Image 2" descr="icons/FiEyeOff_0280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0846" y="1815998"/>
            <a:ext cx="373075" cy="3730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76488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content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76488" y="2926080"/>
            <a:ext cx="28437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text parsers scramble multi-column slides and skip SmartArt, cached charts and embedded Excel / PDF payloads entirely.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3F7F8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today:  </a:t>
            </a:r>
            <a:pPr indent="0" marL="0">
              <a:buNone/>
            </a:pPr>
            <a:r>
              <a:rPr lang="en-US" sz="13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estimated 10–30 minutes to find a single process rule by hand — and a conventional RAG answer is not reliable enough for audits.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— inside LiteAi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717036" y="1005840"/>
            <a:ext cx="4754880" cy="475488"/>
          </a:xfrm>
          <a:prstGeom prst="roundRect">
            <a:avLst>
              <a:gd name="adj" fmla="val 15385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54196" y="100584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LiteAi harness — agent &amp; chat interface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4476" y="1481328"/>
            <a:ext cx="0" cy="274320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076956" y="175564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E4F2F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14116" y="1755648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Lite-KB plugin — FastMCP server</a:t>
            </a:r>
            <a:pPr algn="ctr" indent="0" marL="0">
              <a:lnSpc>
                <a:spcPct val="108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router classifies each query:  GRAPH · VECTOR · HYBRID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2468880"/>
            <a:ext cx="0" cy="274320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91272" y="2468880"/>
            <a:ext cx="0" cy="274320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74320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7432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graph engine</a:t>
            </a:r>
            <a:pPr algn="ctr" indent="0" marL="0">
              <a:lnSpc>
                <a:spcPct val="108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order · RACI · IGOE · handoffs — answered without any LLM call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82512" y="274320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27432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semantic retrieval</a:t>
            </a:r>
            <a:pPr algn="ctr" indent="0" marL="0">
              <a:lnSpc>
                <a:spcPct val="108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(nomic-embed) + BM25 keyword → RRF fusion → cross-encoder rerank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77540" y="3749040"/>
            <a:ext cx="0" cy="292608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11412" y="3749040"/>
            <a:ext cx="0" cy="292608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103120" y="4041648"/>
            <a:ext cx="7982712" cy="640080"/>
          </a:xfrm>
          <a:prstGeom prst="roundRect">
            <a:avLst>
              <a:gd name="adj" fmla="val 11429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40280" y="4041648"/>
            <a:ext cx="7708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ArcadeDB embedded graph-vector store</a:t>
            </a:r>
            <a:pPr algn="ctr" indent="0" marL="0">
              <a:lnSpc>
                <a:spcPct val="108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graph edges + JVector HNSW index + document chunks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138928"/>
            <a:ext cx="3209544" cy="658368"/>
          </a:xfrm>
          <a:prstGeom prst="roundRect">
            <a:avLst>
              <a:gd name="adj" fmla="val 11111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138928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Signavio live sync</a:t>
            </a:r>
            <a:pPr algn="ctr" indent="0" marL="0">
              <a:lnSpc>
                <a:spcPct val="108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source · incremental diff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153412" y="4681728"/>
            <a:ext cx="0" cy="457200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489704" y="5138928"/>
            <a:ext cx="3209544" cy="658368"/>
          </a:xfrm>
          <a:prstGeom prst="roundRect">
            <a:avLst>
              <a:gd name="adj" fmla="val 11111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26864" y="5138928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ppt_parser</a:t>
            </a:r>
            <a:pPr algn="ctr" indent="0" marL="0">
              <a:lnSpc>
                <a:spcPct val="108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OOXML extraction · hardened security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94476" y="4681728"/>
            <a:ext cx="0" cy="457200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430768" y="5138928"/>
            <a:ext cx="3209544" cy="658368"/>
          </a:xfrm>
          <a:prstGeom prst="roundRect">
            <a:avLst>
              <a:gd name="adj" fmla="val 11111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67928" y="5138928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/ Word pipeline</a:t>
            </a:r>
            <a:pPr algn="ctr" indent="0" marL="0">
              <a:lnSpc>
                <a:spcPct val="108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· breadcrumbs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035540" y="4681728"/>
            <a:ext cx="0" cy="457200"/>
          </a:xfrm>
          <a:prstGeom prst="line">
            <a:avLst/>
          </a:prstGeom>
          <a:noFill/>
          <a:ln w="22225">
            <a:solidFill>
              <a:srgbClr val="9AB0BC"/>
            </a:solidFill>
            <a:prstDash val="solid"/>
            <a:headEnd type="triangle"/>
          </a:ln>
        </p:spPr>
      </p:sp>
      <p:pic>
        <p:nvPicPr>
          <p:cNvPr id="27" name="Image 0" descr="icons/FiLock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6053328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2651760" y="6016752"/>
            <a:ext cx="9006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Retrieval, reranking &amp; graph answers run fully locally — narrative generation only via the official corporate AI (Gemini in LiteAi).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questions never touch the LLM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E4F2F0"/>
          </a:solidFill>
          <a:ln/>
        </p:spPr>
      </p:sp>
      <p:pic>
        <p:nvPicPr>
          <p:cNvPr id="4" name="Image 0" descr="icons/FiShuffle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2646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Intent-driven routing</a:t>
            </a:r>
            <a:endParaRPr lang="en-US" sz="155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792224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query is classified up front (lite_kb.rag.router) as GRAPH, VECTOR or HYBRID — structure and narrative take different paths.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035808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E4F2F0"/>
          </a:solidFill>
          <a:ln/>
        </p:spPr>
      </p:sp>
      <p:pic>
        <p:nvPicPr>
          <p:cNvPr id="8" name="Image 1" descr="icons/FiGitBranch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45536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99923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route — deterministic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336499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is responsible?”, next / previous steps, branch conditions, IGOE inputs: answered by graph algorithms directly on ingested BPMN nodes. No generation, no guessing.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4608576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E4F2F0"/>
          </a:solidFill>
          <a:ln/>
        </p:spPr>
      </p:sp>
      <p:pic>
        <p:nvPicPr>
          <p:cNvPr id="12" name="Image 2" descr="icons/FiSearch_0280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18304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457200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/ hybrid route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493776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 questions (“explain the purpose of…”) use semantic passages, with graph-neighbour expansion and cross-encoder reranking.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635240" y="1463040"/>
            <a:ext cx="4005072" cy="1389888"/>
          </a:xfrm>
          <a:prstGeom prst="roundRect">
            <a:avLst>
              <a:gd name="adj" fmla="val 6579"/>
            </a:avLst>
          </a:prstGeom>
          <a:solidFill>
            <a:srgbClr val="E4F2F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909560" y="159105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7909560" y="2176272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answers on process structure — straight from the graph DB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7635240" y="3035808"/>
            <a:ext cx="4005072" cy="1389888"/>
          </a:xfrm>
          <a:prstGeom prst="roundRect">
            <a:avLst>
              <a:gd name="adj" fmla="val 6579"/>
            </a:avLst>
          </a:prstGeom>
          <a:solidFill>
            <a:srgbClr val="E4F2F0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90956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tokens</a:t>
            </a:r>
            <a:endParaRPr lang="en-US" sz="3200" dirty="0"/>
          </a:p>
        </p:txBody>
      </p:sp>
      <p:sp>
        <p:nvSpPr>
          <p:cNvPr id="20" name="Text 15"/>
          <p:cNvSpPr txBox="1"/>
          <p:nvPr/>
        </p:nvSpPr>
        <p:spPr>
          <a:xfrm>
            <a:off x="7909560" y="3749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cost for structural queries — no prompt is built at all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635240" y="4608576"/>
            <a:ext cx="4005072" cy="1389888"/>
          </a:xfrm>
          <a:prstGeom prst="roundRect">
            <a:avLst>
              <a:gd name="adj" fmla="val 6579"/>
            </a:avLst>
          </a:prstGeom>
          <a:solidFill>
            <a:srgbClr val="E4F2F0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909560" y="473659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 hops</a:t>
            </a:r>
            <a:endParaRPr lang="en-US" sz="3200" dirty="0"/>
          </a:p>
        </p:txBody>
      </p:sp>
      <p:sp>
        <p:nvSpPr>
          <p:cNvPr id="23" name="Text 18"/>
          <p:cNvSpPr txBox="1"/>
          <p:nvPr/>
        </p:nvSpPr>
        <p:spPr>
          <a:xfrm>
            <a:off x="7909560" y="5321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subgraphs returned — never a 100-step process dump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carries audit-grade provenance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1737360" y="1234440"/>
            <a:ext cx="8714232" cy="566928"/>
          </a:xfrm>
          <a:prstGeom prst="roundRect">
            <a:avLst>
              <a:gd name="adj" fmla="val 16129"/>
            </a:avLst>
          </a:prstGeom>
          <a:solidFill>
            <a:srgbClr val="EEF2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737360" y="1234440"/>
            <a:ext cx="8714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[specs/q3.pptx  |  slide 11  |  Req_L0_SRS_Overall_8-V01]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40487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7" name="Image 0" descr="icons/FiMapPin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2499970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44752" y="238658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 at parse time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44752" y="2734056"/>
            <a:ext cx="4251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file, slide / page, section and even bounding box are captured during ingestion and stored in deterministic tables — never reconstructed by an LLM afterwards.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6245352" y="2148840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01384" y="240487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12" name="Image 1" descr="icons/FiDatabase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482" y="249997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41464" y="238658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Indexed with the text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141464" y="2734056"/>
            <a:ext cx="4251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citation header is physically part of each chunk, so vector and keyword retrieval always return passages pre-stamped with their verified origin.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548640" y="4069080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" y="432511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17" name="Image 2" descr="icons/FiHash_0280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442021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44752" y="430682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ID lookup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1444752" y="4654296"/>
            <a:ext cx="4251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UIDs (SYS-REQ-0042, SWE.1-BR-17) resolve through an exact SQL join on a dedicated chunk_uid table — bypassing semantic ranking errors entirely.</a:t>
            </a:r>
            <a:endParaRPr lang="en-US" sz="1080" dirty="0"/>
          </a:p>
        </p:txBody>
      </p:sp>
      <p:sp>
        <p:nvSpPr>
          <p:cNvPr id="20" name="Shape 15"/>
          <p:cNvSpPr/>
          <p:nvPr/>
        </p:nvSpPr>
        <p:spPr>
          <a:xfrm>
            <a:off x="6245352" y="4069080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01384" y="432511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22" name="Image 3" descr="icons/FiTarget_02809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482" y="4420210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41464" y="430682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users can check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141464" y="4654296"/>
            <a:ext cx="4251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vs printed slide numbers are reconciled (firstSlideNum), so a cited slide matches what the reader sees. Graph answers cite exact node names too.</a:t>
            </a:r>
            <a:endParaRPr lang="en-US" sz="108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auditors: </a:t>
            </a:r>
            <a:pPr indent="0" marL="0"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“show me the official slide where this rule is stated” is answered instantly — e.g. </a:t>
            </a:r>
            <a:pPr indent="0" marL="0">
              <a:buNone/>
            </a:pPr>
            <a:r>
              <a:rPr lang="en-US" sz="1200" i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“Produced by: Verification Process (Step 3.1: Code Review)”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 a deck is invisible to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E4F2F0"/>
          </a:solidFill>
          <a:ln/>
        </p:spPr>
      </p:sp>
      <p:pic>
        <p:nvPicPr>
          <p:cNvPr id="4" name="Image 0" descr="icons/FiAlignLeft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3" y="147401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2984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reading order rebuilt  —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2D spatial geometry — multi-column slides and grouped shapes are never scrambled.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340864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E4F2F0"/>
          </a:solidFill>
          <a:ln/>
        </p:spPr>
      </p:sp>
      <p:pic>
        <p:nvPicPr>
          <p:cNvPr id="7" name="Image 1" descr="icons/FiShare2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3" y="2443277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67712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SmartArt &amp; diagrams extracted  —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underlying DrawingML parts (diagramData) that standard Python libraries skip.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3310128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E4F2F0"/>
          </a:solidFill>
          <a:ln/>
        </p:spPr>
      </p:sp>
      <p:pic>
        <p:nvPicPr>
          <p:cNvPr id="10" name="Image 2" descr="icons/FiBarChart2_0280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" y="341254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236976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read as data  —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names, category labels and values taken straight from cached chart XML.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548640" y="427939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E4F2F0"/>
          </a:solidFill>
          <a:ln/>
        </p:spPr>
      </p:sp>
      <p:pic>
        <p:nvPicPr>
          <p:cNvPr id="13" name="Image 3" descr="icons/FiPaperclip_02809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3" y="4381805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42062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files isolated  —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workbooks, Word docs and PDFs recovered into a SHA-256 AssetStore with deterministic location tokens — full content parsing staged for Phase 2.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548640" y="5248656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E4F2F0"/>
          </a:solidFill>
          <a:ln/>
        </p:spPr>
      </p:sp>
      <p:pic>
        <p:nvPicPr>
          <p:cNvPr id="16" name="Image 4" descr="icons/FiHash_02809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3" y="5351069"/>
            <a:ext cx="307238" cy="30723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5175504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IDs preserved  —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UIDs plus tokenizer-safe split variants — exact ID search always works.</a:t>
            </a:r>
            <a:endParaRPr lang="en-US" sz="1200" dirty="0"/>
          </a:p>
        </p:txBody>
      </p:sp>
      <p:sp>
        <p:nvSpPr>
          <p:cNvPr id="18" name="Shape 11"/>
          <p:cNvSpPr/>
          <p:nvPr/>
        </p:nvSpPr>
        <p:spPr>
          <a:xfrm>
            <a:off x="7635240" y="1371600"/>
            <a:ext cx="4005072" cy="4846320"/>
          </a:xfrm>
          <a:prstGeom prst="roundRect">
            <a:avLst>
              <a:gd name="adj" fmla="val 2283"/>
            </a:avLst>
          </a:prstGeom>
          <a:solidFill>
            <a:srgbClr val="E4F2F0"/>
          </a:solidFill>
          <a:ln/>
        </p:spPr>
      </p:sp>
      <p:sp>
        <p:nvSpPr>
          <p:cNvPr id="19" name="Shape 12"/>
          <p:cNvSpPr/>
          <p:nvPr/>
        </p:nvSpPr>
        <p:spPr>
          <a:xfrm>
            <a:off x="7955280" y="169164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4F2F0"/>
          </a:solidFill>
          <a:ln/>
        </p:spPr>
      </p:sp>
      <p:pic>
        <p:nvPicPr>
          <p:cNvPr id="20" name="Image 5" descr="icons/FiShield_02809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8666" y="1805026"/>
            <a:ext cx="340157" cy="340157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955280" y="2423160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Hardened, resumable ingestion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7955280" y="3063240"/>
            <a:ext cx="341071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XXE defense — XML entity resolution disabled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Zip-bomb &amp; zip-slip validation before extraction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routed by true binary signature, not extension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process-pool parsing with single-writer lock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Resumable batch runs across thousands of decks</a:t>
            </a:r>
            <a:endParaRPr lang="en-US" sz="1150" dirty="0"/>
          </a:p>
        </p:txBody>
      </p:sp>
      <p:sp>
        <p:nvSpPr>
          <p:cNvPr id="23" name="Text 15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on tokens, tight on security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800600"/>
          </a:xfrm>
          <a:prstGeom prst="roundRect">
            <a:avLst>
              <a:gd name="adj" fmla="val 1905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9164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4F2F0"/>
          </a:solidFill>
          <a:ln/>
        </p:spPr>
      </p:sp>
      <p:pic>
        <p:nvPicPr>
          <p:cNvPr id="5" name="Image 0" descr="icons/FiZap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18050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Token-efficient by design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51460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queries: zero LLM tokens — answered inside the database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fetches top-15 candidates, reranker compresses to the best 5 before any prompt is built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titles &amp; repeated deck boilerplate (logos, footers, confidentiality notices) stripped before indexing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Symbol-font noise (Wingdings &amp; co.) filtered into metadata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breadcrumbs bounded to 120 chars — no oversized headers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45352" y="1371600"/>
            <a:ext cx="5394960" cy="4800600"/>
          </a:xfrm>
          <a:prstGeom prst="roundRect">
            <a:avLst>
              <a:gd name="adj" fmla="val 1905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65392" y="169164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4F2F0"/>
          </a:solidFill>
          <a:ln/>
        </p:spPr>
      </p:sp>
      <p:pic>
        <p:nvPicPr>
          <p:cNvPr id="10" name="Image 1" descr="icons/FiLock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18050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96912" y="1691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Local-first &amp; policy-compliant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51460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stack runs fully on-premise: embedded ArcadeDB, local embedding model (nomic-embed-text-v1.5) and local reranker (ms-marco-MiniLM)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cloud API calls for search, reranking and graph answers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answers are generated only through the company’s official corporate AI (Gemini via LiteAi) — no unapproved external services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Unvetted supplier decks and vendor attachments can be ingested safely (hardened parsers)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pilot — real scope, real sign-off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760720" cy="3886200"/>
          </a:xfrm>
          <a:prstGeom prst="roundRect">
            <a:avLst>
              <a:gd name="adj" fmla="val 2353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4592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4F2F0"/>
          </a:solidFill>
          <a:ln/>
        </p:spPr>
      </p:sp>
      <p:pic>
        <p:nvPicPr>
          <p:cNvPr id="5" name="Image 0" descr="icons/FiDatabase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17593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Ingested today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2316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Signavio repository — all process models, plus the official Signavio Dictionary Index for term &amp; attribute resolution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ASPICE workflows structured end-to-end: SWE.1 (Software Requirements Analysis) and SWE.2 (Software Architectural Design)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Signavio flows linked to detailed PowerPoint specification decks and requirement trace matrices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537960" y="1325880"/>
            <a:ext cx="5102352" cy="3886200"/>
          </a:xfrm>
          <a:prstGeom prst="roundRect">
            <a:avLst>
              <a:gd name="adj" fmla="val 2353"/>
            </a:avLst>
          </a:prstGeom>
          <a:solidFill>
            <a:srgbClr val="E4F2F0"/>
          </a:solidFill>
          <a:ln/>
        </p:spPr>
      </p:sp>
      <p:sp>
        <p:nvSpPr>
          <p:cNvPr id="9" name="Shape 6"/>
          <p:cNvSpPr/>
          <p:nvPr/>
        </p:nvSpPr>
        <p:spPr>
          <a:xfrm>
            <a:off x="6858000" y="164592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4F2F0"/>
          </a:solidFill>
          <a:ln/>
        </p:spPr>
      </p:sp>
      <p:pic>
        <p:nvPicPr>
          <p:cNvPr id="10" name="Image 1" descr="icons/FiUsers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386" y="17593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6459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&amp; signed off by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2212848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Amr Mohamed — Process Owner
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incremental test sessions: Signavio export → retrieval, Dictionary Index, process documents.</a:t>
            </a:r>
            <a:endParaRPr lang="en-US" sz="108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312724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Wael Kadry — Chief Architect, Cairo
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Spot-checked architectural traceability (SWE.1 ↔ SWE.2 ↔ spec decks).</a:t>
            </a:r>
            <a:endParaRPr lang="en-US" sz="1080" dirty="0"/>
          </a:p>
        </p:txBody>
      </p:sp>
      <p:sp>
        <p:nvSpPr>
          <p:cNvPr id="14" name="Text 10"/>
          <p:cNvSpPr txBox="1"/>
          <p:nvPr/>
        </p:nvSpPr>
        <p:spPr>
          <a:xfrm>
            <a:off x="6903720" y="3877056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Abdelrahman Abbas
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checks on process Q&amp;A accuracy.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6903720" y="4553712"/>
            <a:ext cx="4389120" cy="0"/>
          </a:xfrm>
          <a:prstGeom prst="line">
            <a:avLst/>
          </a:prstGeom>
          <a:noFill/>
          <a:ln w="12700">
            <a:solidFill>
              <a:srgbClr val="BCDC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03720" y="46451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deployment: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&amp; embedded DB pre-bundled — the user only enters credentials.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F3F7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97.8% 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accuracy on the development eval — incl. needle-in-haystack &amp; multi-hop questions*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45352" y="5440680"/>
            <a:ext cx="5394960" cy="777240"/>
          </a:xfrm>
          <a:prstGeom prst="roundRect">
            <a:avLst>
              <a:gd name="adj" fmla="val 11765"/>
            </a:avLst>
          </a:prstGeom>
          <a:solidFill>
            <a:srgbClr val="F3F7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19672" y="54406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→ seconds 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process-rule lookup, with exact citation (estimated)*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Accuracy from an automated (AI-judged) evaluation — 20 generated questions per document; time savings are internal estimates. Both to be re-measured during rollout.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RAG vs Lite-KB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840480"/>
                <a:gridCol w="441655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document RAG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Lite-KB + ppt_parser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BPMN / Signavio models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 text conversion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graph + live MCP sync &amp; diff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order &amp; RACI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777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—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hallucination-prone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deterministic graph queries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SmartArt &amp; cached charts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Skipped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Extracted via direct OOXML parsing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Embedded Excel / Word / PDF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Ignored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Isolated &amp; position-stamped — content parsing: Phase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 IDs (UIDs)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Shredded by the tokenizer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Canonical index + automated trace graphs (DERIVE / VERIFY / SATISFY)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parsing resilience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Vulnerable to XXE / zip-bombs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Hardened XML security + process-pool locks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Best-effort, unverified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 file · slide · section, pre-stamped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output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A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On-demand Mermaid flowcharts &amp; IGOE views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next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3864" cy="3337560"/>
          </a:xfrm>
          <a:prstGeom prst="roundRect">
            <a:avLst>
              <a:gd name="adj" fmla="val 2740"/>
            </a:avLst>
          </a:prstGeom>
          <a:solidFill>
            <a:srgbClr val="17303E"/>
          </a:solidFill>
          <a:ln/>
        </p:spPr>
      </p:sp>
      <p:pic>
        <p:nvPicPr>
          <p:cNvPr id="4" name="Image 0" descr="icons/FiCheckCircle_4FD1C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27632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22402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Delivered ✓</a:t>
            </a:r>
            <a:endParaRPr lang="en-US" sz="155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670048"/>
            <a:ext cx="28437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C9D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pilot: full Signavio repository + Dictionary Index, SWE.1 &amp; SWE.2 structured, expert-validated by process owner &amp; chief architect.</a:t>
            </a:r>
            <a:endParaRPr lang="en-US" sz="1180" dirty="0"/>
          </a:p>
        </p:txBody>
      </p:sp>
      <p:sp>
        <p:nvSpPr>
          <p:cNvPr id="7" name="Shape 4"/>
          <p:cNvSpPr/>
          <p:nvPr/>
        </p:nvSpPr>
        <p:spPr>
          <a:xfrm>
            <a:off x="4352544" y="1280160"/>
            <a:ext cx="3483864" cy="3337560"/>
          </a:xfrm>
          <a:prstGeom prst="roundRect">
            <a:avLst>
              <a:gd name="adj" fmla="val 2740"/>
            </a:avLst>
          </a:prstGeom>
          <a:solidFill>
            <a:srgbClr val="17303E"/>
          </a:solidFill>
          <a:ln/>
        </p:spPr>
      </p:sp>
      <p:pic>
        <p:nvPicPr>
          <p:cNvPr id="8" name="Image 1" descr="icons/FiRefreshCw_4FD1C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1627632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672584" y="22402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Next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4672584" y="2670048"/>
            <a:ext cx="28437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C9D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SOPs, PDF &amp; Word procedures; parse embedded file payloads; add image / OCR ingestion; expand SWE.1 / SWE.2 trace graphs to engineering SOPs; background live sync.</a:t>
            </a:r>
            <a:endParaRPr lang="en-US" sz="1180" dirty="0"/>
          </a:p>
        </p:txBody>
      </p:sp>
      <p:sp>
        <p:nvSpPr>
          <p:cNvPr id="11" name="Shape 7"/>
          <p:cNvSpPr/>
          <p:nvPr/>
        </p:nvSpPr>
        <p:spPr>
          <a:xfrm>
            <a:off x="8156448" y="1280160"/>
            <a:ext cx="3483864" cy="3337560"/>
          </a:xfrm>
          <a:prstGeom prst="roundRect">
            <a:avLst>
              <a:gd name="adj" fmla="val 2740"/>
            </a:avLst>
          </a:prstGeom>
          <a:solidFill>
            <a:srgbClr val="17303E"/>
          </a:solidFill>
          <a:ln/>
        </p:spPr>
      </p:sp>
      <p:pic>
        <p:nvPicPr>
          <p:cNvPr id="12" name="Image 2" descr="icons/FiTrendingUp_4FD1C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1627632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76488" y="22402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Scale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8476488" y="2670048"/>
            <a:ext cx="28437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C9D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out across engineering, quality and audit teams; automated ISO / ASPICE traceability &amp; compliance reporting.</a:t>
            </a:r>
            <a:endParaRPr lang="en-US" sz="1180" dirty="0"/>
          </a:p>
        </p:txBody>
      </p:sp>
      <p:sp>
        <p:nvSpPr>
          <p:cNvPr id="15" name="Shape 10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028090"/>
          </a:solidFill>
          <a:ln/>
        </p:spPr>
      </p:sp>
      <p:pic>
        <p:nvPicPr>
          <p:cNvPr id="16" name="Image 3" descr="icons/FiFlag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376672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5029200"/>
            <a:ext cx="9784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ask: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to publish — Lite-KB is already staged on a LiteAi marketplace branch — plus a prioritized list of the next process documents for Phase 2.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evidence &amp; governance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53619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5" name="Image 0" descr="icons/FiTarget_0280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1631290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44752" y="15179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tested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993392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Phase-gated: 7 incremental sessions by the process owner (Signavio export → retrieval, Dictionary Index, process documents), plus independent spot checks by Wael Kadry and Abdelrahman Abbas. Development eval: 20 AI-generated questions per document — incl. needle-in-haystack and multi-document, multi-hop retrieval → 97.8% accuracy (automated AI-judged evaluation; question set available). Each next phase gets the same test gate.</a:t>
            </a:r>
            <a:endParaRPr lang="en-US" sz="1030" dirty="0"/>
          </a:p>
        </p:txBody>
      </p:sp>
      <p:sp>
        <p:nvSpPr>
          <p:cNvPr id="8" name="Shape 5"/>
          <p:cNvSpPr/>
          <p:nvPr/>
        </p:nvSpPr>
        <p:spPr>
          <a:xfrm>
            <a:off x="6245352" y="128016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01384" y="153619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10" name="Image 1" descr="icons/FiShield_0280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482" y="1631290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41464" y="15179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integrity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1993392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Lite-KB is a complementary lookup tool, not a step of the process itself: it never creates, modifies or approves any deliverable, so it cannot introduce or hide defects. Every answer carries an exact citation, so users always verify against the official source.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548640" y="397764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04672" y="423367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15" name="Image 2" descr="icons/FiLock_0280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4328770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44752" y="421538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access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690872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Ingested process content is public within the company — no trade secrets or restricted material in the knowledge base. Retrieval runs locally on the user’s machine; narrative answers go only through the official corporate AI (Gemini), never unapproved services.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6245352" y="397764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7E0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01384" y="423367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4F2F0"/>
          </a:solidFill>
          <a:ln/>
        </p:spPr>
      </p:sp>
      <p:pic>
        <p:nvPicPr>
          <p:cNvPr id="20" name="Image 3" descr="icons/FiDatabase_02809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482" y="4328770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41464" y="421538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stack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611112" y="4690872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ArcadeDB: native graph + vector in one embedded database — no server to operate, one-click install, auto-answer keeps token cost near zero. And why not the corporate AI alone? The official Gemini gem is capped at ~10 documents — far below our multi-hundred-slide corpus. Lite-KB is what lets the approved corporate AI work at repository scale.</a:t>
            </a:r>
            <a:endParaRPr lang="en-US" sz="1030" dirty="0"/>
          </a:p>
        </p:txBody>
      </p:sp>
      <p:sp>
        <p:nvSpPr>
          <p:cNvPr id="23" name="Text 17"/>
          <p:cNvSpPr txBox="1"/>
          <p:nvPr/>
        </p:nvSpPr>
        <p:spPr>
          <a:xfrm>
            <a:off x="11475720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2026-09-13T14:16:23Z</dcterms:created>
  <dcterms:modified xsi:type="dcterms:W3CDTF">2026-09-13T14:16:23Z</dcterms:modified>
</cp:coreProperties>
</file>