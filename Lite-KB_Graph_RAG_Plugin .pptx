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42965AE-D0DC-46BD-8E70-9B0650B8219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OPEN (30 sec): Lite-KB is a graph-RAG plugin for LiteAi that turns our whole Signavio repository and specification decks into an assistant that answers process questions instantly — with an exact citation on every answer. Structural questions are answered deterministically from a graph database, so hallucination is impossible by design. It runs local-first, uses only the official corporate AI, and has already been validated by the process owner and the chief architect. Today I am asking for approval to publish it on the LiteAi marketplace.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NAMING: Lite-KB = the knowledge base plugin; ppt_parser = the deep PowerPoint extraction engine behind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A839C8-C171-4607-BF39-D54C7ABAA5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SAY: three failure modes — knowledge scattered across systems, structure hallucinated by standard RAG, and deep content (SmartArt, charts, embedded files) invisible to flat parsers. The 10–30 min figure is an estimate — say so openly.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ASKED why not search Signavio directly: portal search is per-model keyword search — it cannot join process models with spec decks, PDFs or requirement matrices, and gives no cross-source citations.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ASKED why not the corporate AI directly: the official Gemini gem is capped at ~10 documents — it cannot hold the repository. Full answer on the backup slide.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29BB75-7589-4B4C-9C7C-99540E3FAB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WALKTHROUGH (30 sec): a question enters through LiteAi → the router classifies it → structural questions go to the graph engine (pure database work, no LLM) → narrative questions go to hybrid retrieval (local vectors + BM25 keyword, RRF fusion, cross-encoder rerank) → both read one embedded ArcadeDB → every answer returns with its citation.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WHY THIS STACK: ArcadeDB = graph + vector + documents in ONE embedded database, nothing to operate; FastMCP = standard protocol, so any agent or harness can call the same tools.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BOUNDARY IF ASKED: retrieval, reranking and graph answers are fully local; narrative text generation goes only through Gemini — the official corporate AI — inside LiteAi. No unapproved external service anywhere.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0C4D72-EBC1-45D3-B2AE-D10A6B8AC9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SAY: the audit-critical questions — who is responsible, what comes next, step order, branch conditions — never touch an LLM. They are answered straight from BPMN nodes in the database. Zero hallucination is a design property here, not a promise.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ASKED what if the router misroutes a structural question: worst case it falls to the hybrid route, which still returns pre-stamped, cited passages — the user verifies at the source; the structural tools can also be invoked explicitly. Router rules are deterministic intent patterns and are testable.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EXTRA: hops=3 keeps graph answers as small verified subgraphs instead of dumping 100-step processes into context.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5DDFAD-F4DD-419D-A827-6B0BB0EACB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SAY: citations are captured at parse time and physically travel inside each chunk — the LLM never invents them. Requirement IDs resolve through an exact SQL join, not through ranking.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ASKED what happens when a source document changes: incremental sync recomputes revisions by hash diff, so citations always reflect the currently ingested version; unchanged models are not re-indexed.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EXTRA: printed vs physical slide numbers are reconciled — a cited slide number matches what the reader actually sees in the deck or PDF export.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CDDD60-E42B-4105-B7F7-635526A7C7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SAY: ppt_parser goes below the standard abstractions — geometry-based reading order, SmartArt from DrawingML, chart data from cached XML, OLE payload isolation, UID preservation. Ingestion is hardened and resumable at scale.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 PRECISE IF ASKED: embedded Excel/Word/PDF payloads are today ISOLATED into the AssetStore and position-stamped — their inner content gets parsed in Phase 2.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ASKED about pictures / scans: raw images are not read yet (OCR is Phase 2 — the code already detects and queues OCR candidates). Process diagrams are unaffected: Signavio exports structured BPMN 2.0 XML, so diagrams arrive as data, not images.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TECH DETAIL ONLY IF ASKED: the protections are XXE defense (XML entity resolution disabled), zip-bomb &amp; zip-slip validation, and routing files by their true binary signature instead of trusting the extension; parallel parsing uses a process pool with a single-writer database lock; legacy .ppt is auto-converted via a bundled LibreOffice step.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CHALLENGED — why custom code instead of ready-made tools: standard libraries ARE used wherever they work. The custom layer exists only where no off-the-shelf tool does the job — reading order, SmartArt, chart data, embedded files — and that gap is exactly why this product exists. The security items are not homemade libraries either: they are the safe configuration of standard parsers plus validation checks, which is industry-standard practice.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510588-13D0-4F53-83B6-6CC783AA81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SAY: two properties management cares about — cost discipline and governance. Boundary stated precisely: search, reranking and graph answers are 100% local; narrative generation runs only through Gemini, the official approved AI tool, via LiteAi.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COST IF ASKED: no server to run, no cloud spend, zero tokens on structural queries; deployment is a local plugin with pre-bundled models. The main ongoing cost is maintenance effort, which is phase-gated.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SECURITY REVIEW IF ASKED: the pipeline is hardened (XXE disabled, zip-bomb/zip-slip validation, magic-byte routing) and I welcome a formal security review before the marketplace release.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FC3B0B-8BD2-440F-9660-4008F8318B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SAY: real scope, real sign-off. Amr Mohamed ran 7 incremental sessions phase by phase (Signavio export → retrieval → Dictionary → documents); Wael Kadry spot-checked traceability with targeted questions; Abdelrahman Abbas independently checked process Q&amp;A.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 DEFENSE (97.8%): automated AI-judged evaluation — 20 generated questions per document, incl. needle-in-haystack and multi-document multi-hop retrieval. The full question set and results are available to open on the spot; every phase gets the same test gate, incl. Phase 2.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ANECDOTE TO TELL LIVE: Wael installed the plugin himself in minutes — he only entered his username and password; libraries and setup were fully automatic. He was impressed by how direct it was.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93C37B-75A7-4FE7-A66F-054EF82376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SAY: everything a standard pipeline loses, Lite-KB keeps — deterministically. The two rows that matter most for us are Step order &amp; RACI and Citations: those are the audit-critical ones.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CREDIBILITY: every row was cross-checked against the actual codebase — a code-vs-slide verification matrix is available on request.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C1BCB9-39E0-45FF-BA5C-3FBBC1FBAE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SAY: Phase 1 is done and validated. Lite-KB is already staged on a LiteAi marketplace branch — publishing is one approval away. The ask: green light plus prioritization of the next process documents. Phase 3 unlocks audit-grade compliance reporting.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OWNERSHIP (prepare your own answer — suggested framing): I maintain it as plugin owner with phase-gated, test-gated releases; ingestion and sync are automated, so steady-state effort is low; the marketplace gives a controlled update channel.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STALENESS IF ASKED: today re-sync runs on demand with incremental hash diffing (unchanged models are never re-indexed); background live sync is a Phase 2 item.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ASKED about images: not parsed yet — Phase 2 (OCR); Signavio diagrams unaffected (BPMN XML, not pictures).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BDA4B9-1784-418D-A621-C6716852BB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MASTER Q&amp;A CHEAT SHEET — usable anywhere in the meeting: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 Proof of accuracy? → 3 validators, 7 incremental sessions, 97.8% automated eval (question set available to open live).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 What if it answers wrong in an audit? → structural answers are deterministic; every answer carries a citation; the tool is complementary — humans verify at the official source, so it cannot create or hide defects.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3. Does data leave the company? → retrieval is fully local; narrative goes only through the official corporate Gemini via LiteAi — never an unapproved service.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4. Why not the Gemini gem alone? → capped at ~10 documents; Lite-KB works at repository scale and feeds the corporate AI curated, cited context.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5. Why not wait for SAP Signavio AI? → cloud-side, not LiteAi-native, and cannot join decks + requirement matrices with our processes; Lite-KB is local and already validated.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6. Can I query inside an embedded Excel? → today isolated &amp; position-stamped; content parsing is Phase 2 — already on the roadmap slide.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7. Images / scanned pages? → OCR is Phase 2 (candidates already detected and queued); Signavio arrives as BPMN XML, so diagrams are unaffected.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8. Who maintains it? → give your ownership answer (suggested: plugin owner = me, phase-gated test-gated releases, low steady-state effort, marketplace as controlled update channel).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9. What does it cost? → no server, no cloud spend, zero tokens for structural queries; the cost is maintenance time.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10. Security review? → hardened pipeline (XXE off, zip-bomb/zip-slip checks, magic-byte routing); I invite a formal review before release.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CREDIBILITY CLOSER: every slide claim was cross-checked against the codebase; the verification matrix is available on request.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424976-AD3B-450B-B3E5-849CD428A4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" name="" descr=""/>
          <p:cNvPicPr/>
          <p:nvPr/>
        </p:nvPicPr>
        <p:blipFill>
          <a:blip r:embed="rId2"/>
          <a:stretch/>
        </p:blipFill>
        <p:spPr>
          <a:xfrm>
            <a:off x="10287000" y="228600"/>
            <a:ext cx="1421640" cy="6660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8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/>
          <p:cNvSpPr/>
          <p:nvPr/>
        </p:nvSpPr>
        <p:spPr>
          <a:xfrm flipH="1">
            <a:off x="8961120" y="1143000"/>
            <a:ext cx="1371600" cy="41148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10332720" y="1143000"/>
            <a:ext cx="1051560" cy="82296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 flipH="1">
            <a:off x="11018520" y="1965960"/>
            <a:ext cx="365760" cy="155448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9601200" y="2697480"/>
            <a:ext cx="1417320" cy="82296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8961120" y="1554480"/>
            <a:ext cx="640080" cy="114300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 flipH="1">
            <a:off x="9144000" y="2697480"/>
            <a:ext cx="457200" cy="155448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 flipH="1">
            <a:off x="10515600" y="3520440"/>
            <a:ext cx="502920" cy="137160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9144000" y="4251960"/>
            <a:ext cx="1371600" cy="64008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10515600" y="4892040"/>
            <a:ext cx="960120" cy="64008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 flipH="1">
            <a:off x="9784080" y="4892040"/>
            <a:ext cx="731520" cy="82296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9144000" y="4251960"/>
            <a:ext cx="640080" cy="146304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9601200" y="2697480"/>
            <a:ext cx="914400" cy="2194560"/>
          </a:xfrm>
          <a:prstGeom prst="line">
            <a:avLst/>
          </a:prstGeom>
          <a:ln w="15875">
            <a:solidFill>
              <a:srgbClr val="1d3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8892720" y="1486080"/>
            <a:ext cx="136800" cy="136800"/>
          </a:xfrm>
          <a:prstGeom prst="ellipse">
            <a:avLst/>
          </a:prstGeom>
          <a:solidFill>
            <a:srgbClr val="2450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10264320" y="1074600"/>
            <a:ext cx="136800" cy="136800"/>
          </a:xfrm>
          <a:prstGeom prst="ellipse">
            <a:avLst/>
          </a:prstGeom>
          <a:solidFill>
            <a:srgbClr val="2450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4"/>
          <p:cNvSpPr/>
          <p:nvPr/>
        </p:nvSpPr>
        <p:spPr>
          <a:xfrm>
            <a:off x="11315880" y="1897560"/>
            <a:ext cx="136800" cy="136800"/>
          </a:xfrm>
          <a:prstGeom prst="ellipse">
            <a:avLst/>
          </a:prstGeom>
          <a:solidFill>
            <a:srgbClr val="2450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9491400" y="2587680"/>
            <a:ext cx="219240" cy="219240"/>
          </a:xfrm>
          <a:prstGeom prst="ellipse">
            <a:avLst/>
          </a:prstGeom>
          <a:solidFill>
            <a:srgbClr val="4fd1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10950120" y="3452040"/>
            <a:ext cx="136800" cy="136800"/>
          </a:xfrm>
          <a:prstGeom prst="ellipse">
            <a:avLst/>
          </a:prstGeom>
          <a:solidFill>
            <a:srgbClr val="2450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9075600" y="4183560"/>
            <a:ext cx="136800" cy="136800"/>
          </a:xfrm>
          <a:prstGeom prst="ellipse">
            <a:avLst/>
          </a:prstGeom>
          <a:solidFill>
            <a:srgbClr val="2450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10405800" y="4782240"/>
            <a:ext cx="219240" cy="219240"/>
          </a:xfrm>
          <a:prstGeom prst="ellipse">
            <a:avLst/>
          </a:prstGeom>
          <a:solidFill>
            <a:srgbClr val="4fd1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9"/>
          <p:cNvSpPr/>
          <p:nvPr/>
        </p:nvSpPr>
        <p:spPr>
          <a:xfrm>
            <a:off x="11407320" y="5463720"/>
            <a:ext cx="136800" cy="136800"/>
          </a:xfrm>
          <a:prstGeom prst="ellipse">
            <a:avLst/>
          </a:prstGeom>
          <a:solidFill>
            <a:srgbClr val="2450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9715680" y="5646600"/>
            <a:ext cx="136800" cy="136800"/>
          </a:xfrm>
          <a:prstGeom prst="ellipse">
            <a:avLst/>
          </a:prstGeom>
          <a:solidFill>
            <a:srgbClr val="2450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685800" y="12344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4fd1c5"/>
                </a:solidFill>
                <a:latin typeface="Arial"/>
                <a:ea typeface="Arial"/>
              </a:rPr>
              <a:t>LITEAI PLUGIN  ·  PILOT REVIEW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640080" y="1600200"/>
            <a:ext cx="7772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Lite-KB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685800" y="2606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fd1c5"/>
                </a:solidFill>
                <a:latin typeface="Arial"/>
                <a:ea typeface="Arial"/>
              </a:rPr>
              <a:t>Graph RAG for Enterprise Process Knowledge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685800" y="3291840"/>
            <a:ext cx="6949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9d6de"/>
                </a:solidFill>
                <a:latin typeface="Arial"/>
                <a:ea typeface="Arial"/>
              </a:rPr>
              <a:t>Deterministic, local-first process intelligence over Signavio BPMN models and specification decks — with audit-grade citations on every answer.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685800" y="4526280"/>
            <a:ext cx="3062880" cy="475200"/>
          </a:xfrm>
          <a:prstGeom prst="roundRect">
            <a:avLst>
              <a:gd name="adj" fmla="val 50000"/>
            </a:avLst>
          </a:prstGeom>
          <a:solidFill>
            <a:srgbClr val="1b35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685800" y="452628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fd1c5"/>
                </a:solidFill>
                <a:latin typeface="Arial"/>
                <a:ea typeface="Arial"/>
              </a:rPr>
              <a:t>Local retrieval · official corporate AI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4023360" y="4526280"/>
            <a:ext cx="3794400" cy="475200"/>
          </a:xfrm>
          <a:prstGeom prst="roundRect">
            <a:avLst>
              <a:gd name="adj" fmla="val 50000"/>
            </a:avLst>
          </a:prstGeom>
          <a:solidFill>
            <a:srgbClr val="1b35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8"/>
          <p:cNvSpPr/>
          <p:nvPr/>
        </p:nvSpPr>
        <p:spPr>
          <a:xfrm>
            <a:off x="4023360" y="452628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fd1c5"/>
                </a:solidFill>
                <a:latin typeface="Arial"/>
                <a:ea typeface="Arial"/>
              </a:rPr>
              <a:t>Zero-hallucination structural answers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8092440" y="4526280"/>
            <a:ext cx="3382920" cy="475200"/>
          </a:xfrm>
          <a:prstGeom prst="roundRect">
            <a:avLst>
              <a:gd name="adj" fmla="val 50000"/>
            </a:avLst>
          </a:prstGeom>
          <a:solidFill>
            <a:srgbClr val="1b35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8092440" y="4526280"/>
            <a:ext cx="3382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fd1c5"/>
                </a:solidFill>
                <a:latin typeface="Arial"/>
                <a:ea typeface="Arial"/>
              </a:rPr>
              <a:t>Validated pilot — SWE.1 &amp; SWE.2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31"/>
          <p:cNvSpPr/>
          <p:nvPr/>
        </p:nvSpPr>
        <p:spPr>
          <a:xfrm>
            <a:off x="685800" y="6172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080"/>
                </a:solidFill>
                <a:latin typeface="Arial"/>
                <a:ea typeface="Arial"/>
              </a:rPr>
              <a:t>September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0287000" y="72000"/>
            <a:ext cx="1742400" cy="91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b2a35"/>
                </a:solidFill>
                <a:latin typeface="Arial"/>
                <a:ea typeface="Arial"/>
              </a:rPr>
              <a:t>Process knowledge is trapped — and standard RAG can’t be trusted with it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548640" y="1325880"/>
            <a:ext cx="3483360" cy="3794400"/>
          </a:xfrm>
          <a:prstGeom prst="roundRect">
            <a:avLst>
              <a:gd name="adj" fmla="val 2625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868680" y="1691640"/>
            <a:ext cx="621360" cy="621360"/>
          </a:xfrm>
          <a:prstGeom prst="roundRect">
            <a:avLst>
              <a:gd name="adj" fmla="val 13235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Image 0" descr="icons/FiLayers_028090.png"/>
          <p:cNvPicPr/>
          <p:nvPr/>
        </p:nvPicPr>
        <p:blipFill>
          <a:blip r:embed="rId1"/>
          <a:stretch/>
        </p:blipFill>
        <p:spPr>
          <a:xfrm>
            <a:off x="992880" y="181584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46" name="Text 3"/>
          <p:cNvSpPr/>
          <p:nvPr/>
        </p:nvSpPr>
        <p:spPr>
          <a:xfrm>
            <a:off x="868680" y="2514600"/>
            <a:ext cx="284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35"/>
                </a:solidFill>
                <a:latin typeface="Arial"/>
                <a:ea typeface="Arial"/>
              </a:rPr>
              <a:t>Siloed documentation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868680" y="2926080"/>
            <a:ext cx="28432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a4a55"/>
                </a:solidFill>
                <a:latin typeface="Arial"/>
                <a:ea typeface="Arial"/>
              </a:rPr>
              <a:t>Operational workflows live across Signavio portals, multi-hundred-slide PowerPoint spec decks, and dense PDF / Word procedures.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4352400" y="1325880"/>
            <a:ext cx="3483360" cy="3794400"/>
          </a:xfrm>
          <a:prstGeom prst="roundRect">
            <a:avLst>
              <a:gd name="adj" fmla="val 2625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672440" y="1691640"/>
            <a:ext cx="621360" cy="621360"/>
          </a:xfrm>
          <a:prstGeom prst="roundRect">
            <a:avLst>
              <a:gd name="adj" fmla="val 13235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Image 1" descr="icons/FiAlertTriangle_028090.png"/>
          <p:cNvPicPr/>
          <p:nvPr/>
        </p:nvPicPr>
        <p:blipFill>
          <a:blip r:embed="rId2"/>
          <a:stretch/>
        </p:blipFill>
        <p:spPr>
          <a:xfrm>
            <a:off x="4797000" y="181584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51" name="Text 7"/>
          <p:cNvSpPr/>
          <p:nvPr/>
        </p:nvSpPr>
        <p:spPr>
          <a:xfrm>
            <a:off x="4672440" y="2514600"/>
            <a:ext cx="284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35"/>
                </a:solidFill>
                <a:latin typeface="Arial"/>
                <a:ea typeface="Arial"/>
              </a:rPr>
              <a:t>Hallucinated structure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4672440" y="2926080"/>
            <a:ext cx="28432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a4a55"/>
                </a:solidFill>
                <a:latin typeface="Arial"/>
                <a:ea typeface="Arial"/>
              </a:rPr>
              <a:t>Standard RAG guesses step order, RACI roles and branch conditions, and shreds requirement IDs (Req_L0_SRS_…) into meaningless tokens.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8156520" y="1325880"/>
            <a:ext cx="3483360" cy="3794400"/>
          </a:xfrm>
          <a:prstGeom prst="roundRect">
            <a:avLst>
              <a:gd name="adj" fmla="val 2625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8476560" y="1691640"/>
            <a:ext cx="621360" cy="621360"/>
          </a:xfrm>
          <a:prstGeom prst="roundRect">
            <a:avLst>
              <a:gd name="adj" fmla="val 13235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Image 2" descr="icons/FiEyeOff_028090.png"/>
          <p:cNvPicPr/>
          <p:nvPr/>
        </p:nvPicPr>
        <p:blipFill>
          <a:blip r:embed="rId3"/>
          <a:stretch/>
        </p:blipFill>
        <p:spPr>
          <a:xfrm>
            <a:off x="8600760" y="1815840"/>
            <a:ext cx="372600" cy="372600"/>
          </a:xfrm>
          <a:prstGeom prst="rect">
            <a:avLst/>
          </a:prstGeom>
          <a:ln w="0">
            <a:noFill/>
          </a:ln>
        </p:spPr>
      </p:pic>
      <p:sp>
        <p:nvSpPr>
          <p:cNvPr id="56" name="Text 11"/>
          <p:cNvSpPr/>
          <p:nvPr/>
        </p:nvSpPr>
        <p:spPr>
          <a:xfrm>
            <a:off x="8476560" y="2514600"/>
            <a:ext cx="284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35"/>
                </a:solidFill>
                <a:latin typeface="Arial"/>
                <a:ea typeface="Arial"/>
              </a:rPr>
              <a:t>Invisible content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8476560" y="2926080"/>
            <a:ext cx="28432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a4a55"/>
                </a:solidFill>
                <a:latin typeface="Arial"/>
                <a:ea typeface="Arial"/>
              </a:rPr>
              <a:t>Flat text parsers scramble multi-column slides and skip SmartArt, cached charts and embedded Excel / PDF payloads entirely.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548640" y="5486400"/>
            <a:ext cx="11091240" cy="776880"/>
          </a:xfrm>
          <a:prstGeom prst="roundRect">
            <a:avLst>
              <a:gd name="adj" fmla="val 9412"/>
            </a:avLst>
          </a:prstGeom>
          <a:solidFill>
            <a:srgbClr val="f3f7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868680" y="5486400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2a35"/>
                </a:solidFill>
                <a:latin typeface="Arial"/>
                <a:ea typeface="Arial"/>
              </a:rPr>
              <a:t>The cost today:  </a:t>
            </a:r>
            <a:r>
              <a:rPr b="0" lang="en-US" sz="1300" spc="-1" strike="noStrike">
                <a:solidFill>
                  <a:srgbClr val="3a4a55"/>
                </a:solidFill>
                <a:latin typeface="Arial"/>
                <a:ea typeface="Arial"/>
              </a:rPr>
              <a:t>an estimated 10–30 minutes to find a single process rule by hand — and a conventional RAG answer is not reliable enough for audits.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11475720" y="64922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c7080"/>
                </a:solidFill>
                <a:latin typeface="Arial"/>
                <a:ea typeface="Arial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b2a35"/>
                </a:solidFill>
                <a:latin typeface="Arial"/>
                <a:ea typeface="Arial"/>
              </a:rPr>
              <a:t>How it works — inside LiteAi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3717000" y="1005840"/>
            <a:ext cx="4754520" cy="475200"/>
          </a:xfrm>
          <a:prstGeom prst="roundRect">
            <a:avLst>
              <a:gd name="adj" fmla="val 15385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3854160" y="100584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2a35"/>
                </a:solidFill>
                <a:latin typeface="Arial"/>
                <a:ea typeface="Arial"/>
              </a:rPr>
              <a:t>LiteAi harness — agent &amp; chat interface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6094440" y="1481040"/>
            <a:ext cx="360" cy="274320"/>
          </a:xfrm>
          <a:prstGeom prst="line">
            <a:avLst/>
          </a:prstGeom>
          <a:ln w="22225">
            <a:solidFill>
              <a:srgbClr val="9ab0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3076920" y="1755720"/>
            <a:ext cx="6034680" cy="712800"/>
          </a:xfrm>
          <a:prstGeom prst="roundRect">
            <a:avLst>
              <a:gd name="adj" fmla="val 10256"/>
            </a:avLst>
          </a:prstGeom>
          <a:solidFill>
            <a:srgbClr val="e4f2f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3214080" y="1755720"/>
            <a:ext cx="5760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2a35"/>
                </a:solidFill>
                <a:latin typeface="Arial"/>
                <a:ea typeface="Arial"/>
              </a:rPr>
              <a:t>Lite-KB plugin — FastMCP server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a55"/>
                </a:solidFill>
                <a:latin typeface="Arial"/>
                <a:ea typeface="Arial"/>
              </a:rPr>
              <a:t>intent router classifies each query:  GRAPH · VECTOR · HYBRID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4297680" y="2468880"/>
            <a:ext cx="360" cy="274320"/>
          </a:xfrm>
          <a:prstGeom prst="line">
            <a:avLst/>
          </a:prstGeom>
          <a:ln w="22225">
            <a:solidFill>
              <a:srgbClr val="9ab0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7891200" y="2468880"/>
            <a:ext cx="360" cy="274320"/>
          </a:xfrm>
          <a:prstGeom prst="line">
            <a:avLst/>
          </a:prstGeom>
          <a:ln w="22225">
            <a:solidFill>
              <a:srgbClr val="9ab0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548640" y="2743200"/>
            <a:ext cx="5257440" cy="1005480"/>
          </a:xfrm>
          <a:prstGeom prst="roundRect">
            <a:avLst>
              <a:gd name="adj" fmla="val 7273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685800" y="2743200"/>
            <a:ext cx="4983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2a35"/>
                </a:solidFill>
                <a:latin typeface="Arial"/>
                <a:ea typeface="Arial"/>
              </a:rPr>
              <a:t>Deterministic graph engine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a55"/>
                </a:solidFill>
                <a:latin typeface="Arial"/>
                <a:ea typeface="Arial"/>
              </a:rPr>
              <a:t>step order · RACI · IGOE · handoffs — answered without any LLM call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6382440" y="2743200"/>
            <a:ext cx="5257440" cy="1005480"/>
          </a:xfrm>
          <a:prstGeom prst="roundRect">
            <a:avLst>
              <a:gd name="adj" fmla="val 7273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6519600" y="2743200"/>
            <a:ext cx="4983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2a35"/>
                </a:solidFill>
                <a:latin typeface="Arial"/>
                <a:ea typeface="Arial"/>
              </a:rPr>
              <a:t>Hybrid semantic retrieval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a55"/>
                </a:solidFill>
                <a:latin typeface="Arial"/>
                <a:ea typeface="Arial"/>
              </a:rPr>
              <a:t>vector (nomic-embed) + BM25 keyword → RRF fusion → cross-encoder rerank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3177360" y="3749040"/>
            <a:ext cx="360" cy="292320"/>
          </a:xfrm>
          <a:prstGeom prst="line">
            <a:avLst/>
          </a:prstGeom>
          <a:ln w="22225">
            <a:solidFill>
              <a:srgbClr val="9ab0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9011160" y="3749040"/>
            <a:ext cx="360" cy="292320"/>
          </a:xfrm>
          <a:prstGeom prst="line">
            <a:avLst/>
          </a:prstGeom>
          <a:ln w="22225">
            <a:solidFill>
              <a:srgbClr val="9ab0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2103120" y="4041720"/>
            <a:ext cx="7982280" cy="639720"/>
          </a:xfrm>
          <a:prstGeom prst="roundRect">
            <a:avLst>
              <a:gd name="adj" fmla="val 11429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2240280" y="4041720"/>
            <a:ext cx="7707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2a35"/>
                </a:solidFill>
                <a:latin typeface="Arial"/>
                <a:ea typeface="Arial"/>
              </a:rPr>
              <a:t>ArcadeDB embedded graph-vector store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a55"/>
                </a:solidFill>
                <a:latin typeface="Arial"/>
                <a:ea typeface="Arial"/>
              </a:rPr>
              <a:t>process graph edges + JVector HNSW index + document chunks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548640" y="5139000"/>
            <a:ext cx="3209040" cy="658080"/>
          </a:xfrm>
          <a:prstGeom prst="roundRect">
            <a:avLst>
              <a:gd name="adj" fmla="val 11111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685800" y="5139000"/>
            <a:ext cx="2934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a35"/>
                </a:solidFill>
                <a:latin typeface="Arial"/>
                <a:ea typeface="Arial"/>
              </a:rPr>
              <a:t>Signavio live sync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a55"/>
                </a:solidFill>
                <a:latin typeface="Arial"/>
                <a:ea typeface="Arial"/>
              </a:rPr>
              <a:t>MCP source · incremental diff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8"/>
          <p:cNvSpPr/>
          <p:nvPr/>
        </p:nvSpPr>
        <p:spPr>
          <a:xfrm>
            <a:off x="2153160" y="4681440"/>
            <a:ext cx="360" cy="457200"/>
          </a:xfrm>
          <a:prstGeom prst="line">
            <a:avLst/>
          </a:prstGeom>
          <a:ln w="22225">
            <a:solidFill>
              <a:srgbClr val="9ab0bc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9"/>
          <p:cNvSpPr/>
          <p:nvPr/>
        </p:nvSpPr>
        <p:spPr>
          <a:xfrm>
            <a:off x="4489560" y="5139000"/>
            <a:ext cx="3209040" cy="658080"/>
          </a:xfrm>
          <a:prstGeom prst="roundRect">
            <a:avLst>
              <a:gd name="adj" fmla="val 11111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0"/>
          <p:cNvSpPr/>
          <p:nvPr/>
        </p:nvSpPr>
        <p:spPr>
          <a:xfrm>
            <a:off x="4626720" y="5139000"/>
            <a:ext cx="2934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a35"/>
                </a:solidFill>
                <a:latin typeface="Arial"/>
                <a:ea typeface="Arial"/>
              </a:rPr>
              <a:t>ppt_parser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a55"/>
                </a:solidFill>
                <a:latin typeface="Arial"/>
                <a:ea typeface="Arial"/>
              </a:rPr>
              <a:t>OOXML extraction · hardened security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1"/>
          <p:cNvSpPr/>
          <p:nvPr/>
        </p:nvSpPr>
        <p:spPr>
          <a:xfrm>
            <a:off x="6094440" y="4681440"/>
            <a:ext cx="360" cy="457200"/>
          </a:xfrm>
          <a:prstGeom prst="line">
            <a:avLst/>
          </a:prstGeom>
          <a:ln w="22225">
            <a:solidFill>
              <a:srgbClr val="9ab0bc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2"/>
          <p:cNvSpPr/>
          <p:nvPr/>
        </p:nvSpPr>
        <p:spPr>
          <a:xfrm>
            <a:off x="8430840" y="5139000"/>
            <a:ext cx="3209040" cy="658080"/>
          </a:xfrm>
          <a:prstGeom prst="roundRect">
            <a:avLst>
              <a:gd name="adj" fmla="val 11111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3"/>
          <p:cNvSpPr/>
          <p:nvPr/>
        </p:nvSpPr>
        <p:spPr>
          <a:xfrm>
            <a:off x="8568000" y="5139000"/>
            <a:ext cx="2934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a35"/>
                </a:solidFill>
                <a:latin typeface="Arial"/>
                <a:ea typeface="Arial"/>
              </a:rPr>
              <a:t>PDF / Word pipeline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a55"/>
                </a:solidFill>
                <a:latin typeface="Arial"/>
                <a:ea typeface="Arial"/>
              </a:rPr>
              <a:t>sections · breadcrumbs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4"/>
          <p:cNvSpPr/>
          <p:nvPr/>
        </p:nvSpPr>
        <p:spPr>
          <a:xfrm>
            <a:off x="10035360" y="4681440"/>
            <a:ext cx="360" cy="457200"/>
          </a:xfrm>
          <a:prstGeom prst="line">
            <a:avLst/>
          </a:prstGeom>
          <a:ln w="22225">
            <a:solidFill>
              <a:srgbClr val="9ab0bc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0" descr="icons/FiLock_028090.png"/>
          <p:cNvPicPr/>
          <p:nvPr/>
        </p:nvPicPr>
        <p:blipFill>
          <a:blip r:embed="rId1"/>
          <a:stretch/>
        </p:blipFill>
        <p:spPr>
          <a:xfrm>
            <a:off x="2331720" y="60534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87" name="Text 25"/>
          <p:cNvSpPr/>
          <p:nvPr/>
        </p:nvSpPr>
        <p:spPr>
          <a:xfrm>
            <a:off x="2651760" y="6016680"/>
            <a:ext cx="9006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b5563"/>
                </a:solidFill>
                <a:latin typeface="Arial"/>
                <a:ea typeface="Arial"/>
              </a:rPr>
              <a:t>Retrieval, reranking &amp; graph answers run fully locally — narrative generation only via the official corporate AI (Gemini in LiteAi).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6"/>
          <p:cNvSpPr/>
          <p:nvPr/>
        </p:nvSpPr>
        <p:spPr>
          <a:xfrm>
            <a:off x="11475720" y="64922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c7080"/>
                </a:solidFill>
                <a:latin typeface="Arial"/>
                <a:ea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b2a35"/>
                </a:solidFill>
                <a:latin typeface="Arial"/>
                <a:ea typeface="Arial"/>
              </a:rPr>
              <a:t>Structural questions never touch the LLM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548640" y="1463040"/>
            <a:ext cx="548280" cy="548280"/>
          </a:xfrm>
          <a:prstGeom prst="roundRect">
            <a:avLst>
              <a:gd name="adj" fmla="val 15000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0" descr="icons/FiShuffle_028090.png"/>
          <p:cNvPicPr/>
          <p:nvPr/>
        </p:nvPicPr>
        <p:blipFill>
          <a:blip r:embed="rId1"/>
          <a:stretch/>
        </p:blipFill>
        <p:spPr>
          <a:xfrm>
            <a:off x="658440" y="157284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92" name="Text 2"/>
          <p:cNvSpPr/>
          <p:nvPr/>
        </p:nvSpPr>
        <p:spPr>
          <a:xfrm>
            <a:off x="1325880" y="1426320"/>
            <a:ext cx="5851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35"/>
                </a:solidFill>
                <a:latin typeface="Arial"/>
                <a:ea typeface="Arial"/>
              </a:rPr>
              <a:t>Intent-driven routing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1325880" y="1792080"/>
            <a:ext cx="5851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Every query is classified up front (lite_kb.rag.router) as GRAPH, VECTOR or HYBRID — structure and narrative take different paths.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548640" y="3035880"/>
            <a:ext cx="548280" cy="548280"/>
          </a:xfrm>
          <a:prstGeom prst="roundRect">
            <a:avLst>
              <a:gd name="adj" fmla="val 15000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1" descr="icons/FiGitBranch_028090.png"/>
          <p:cNvPicPr/>
          <p:nvPr/>
        </p:nvPicPr>
        <p:blipFill>
          <a:blip r:embed="rId2"/>
          <a:stretch/>
        </p:blipFill>
        <p:spPr>
          <a:xfrm>
            <a:off x="658440" y="31456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96" name="Text 5"/>
          <p:cNvSpPr/>
          <p:nvPr/>
        </p:nvSpPr>
        <p:spPr>
          <a:xfrm>
            <a:off x="1325880" y="2999160"/>
            <a:ext cx="5851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35"/>
                </a:solidFill>
                <a:latin typeface="Arial"/>
                <a:ea typeface="Arial"/>
              </a:rPr>
              <a:t>Graph route — deterministic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1325880" y="3364920"/>
            <a:ext cx="5851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“</a:t>
            </a: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Who is responsible?”, next / previous steps, branch conditions, IGOE inputs: answered by graph algorithms directly on ingested BPMN nodes. No generation, no guessing.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548640" y="4608720"/>
            <a:ext cx="548280" cy="548280"/>
          </a:xfrm>
          <a:prstGeom prst="roundRect">
            <a:avLst>
              <a:gd name="adj" fmla="val 15000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Image 2" descr="icons/FiSearch_028090.png"/>
          <p:cNvPicPr/>
          <p:nvPr/>
        </p:nvPicPr>
        <p:blipFill>
          <a:blip r:embed="rId3"/>
          <a:stretch/>
        </p:blipFill>
        <p:spPr>
          <a:xfrm>
            <a:off x="658440" y="47181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00" name="Text 8"/>
          <p:cNvSpPr/>
          <p:nvPr/>
        </p:nvSpPr>
        <p:spPr>
          <a:xfrm>
            <a:off x="1325880" y="4572000"/>
            <a:ext cx="5851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35"/>
                </a:solidFill>
                <a:latin typeface="Arial"/>
                <a:ea typeface="Arial"/>
              </a:rPr>
              <a:t>Vector / hybrid route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1325880" y="4937760"/>
            <a:ext cx="5851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Broad questions (“explain the purpose of…”) use semantic passages, with graph-neighbour expansion and cross-encoder reranking.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0"/>
          <p:cNvSpPr/>
          <p:nvPr/>
        </p:nvSpPr>
        <p:spPr>
          <a:xfrm>
            <a:off x="7635240" y="1463040"/>
            <a:ext cx="4004640" cy="1389600"/>
          </a:xfrm>
          <a:prstGeom prst="roundRect">
            <a:avLst>
              <a:gd name="adj" fmla="val 6579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7909560" y="1591200"/>
            <a:ext cx="3474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28090"/>
                </a:solidFill>
                <a:latin typeface="Arial"/>
                <a:ea typeface="Arial"/>
              </a:rPr>
              <a:t>100%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7909560" y="2176200"/>
            <a:ext cx="3474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b5563"/>
                </a:solidFill>
                <a:latin typeface="Arial"/>
                <a:ea typeface="Arial"/>
              </a:rPr>
              <a:t>deterministic answers on process structure — straight from the graph DB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7635240" y="3035880"/>
            <a:ext cx="4004640" cy="1389600"/>
          </a:xfrm>
          <a:prstGeom prst="roundRect">
            <a:avLst>
              <a:gd name="adj" fmla="val 6579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7909560" y="3163680"/>
            <a:ext cx="3474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28090"/>
                </a:solidFill>
                <a:latin typeface="Arial"/>
                <a:ea typeface="Arial"/>
              </a:rPr>
              <a:t>0 tokens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7909560" y="3749040"/>
            <a:ext cx="3474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b5563"/>
                </a:solidFill>
                <a:latin typeface="Arial"/>
                <a:ea typeface="Arial"/>
              </a:rPr>
              <a:t>LLM cost for structural queries — no prompt is built at all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6"/>
          <p:cNvSpPr/>
          <p:nvPr/>
        </p:nvSpPr>
        <p:spPr>
          <a:xfrm>
            <a:off x="7635240" y="4608720"/>
            <a:ext cx="4004640" cy="1389600"/>
          </a:xfrm>
          <a:prstGeom prst="roundRect">
            <a:avLst>
              <a:gd name="adj" fmla="val 6579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7909560" y="4736520"/>
            <a:ext cx="3474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28090"/>
                </a:solidFill>
                <a:latin typeface="Arial"/>
                <a:ea typeface="Arial"/>
              </a:rPr>
              <a:t>≤ </a:t>
            </a:r>
            <a:r>
              <a:rPr b="1" lang="en-US" sz="3200" spc="-1" strike="noStrike">
                <a:solidFill>
                  <a:srgbClr val="028090"/>
                </a:solidFill>
                <a:latin typeface="Arial"/>
                <a:ea typeface="Arial"/>
              </a:rPr>
              <a:t>3 hops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8"/>
          <p:cNvSpPr/>
          <p:nvPr/>
        </p:nvSpPr>
        <p:spPr>
          <a:xfrm>
            <a:off x="7909560" y="5321880"/>
            <a:ext cx="3474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b5563"/>
                </a:solidFill>
                <a:latin typeface="Arial"/>
                <a:ea typeface="Arial"/>
              </a:rPr>
              <a:t>bounded subgraphs returned — never a 100-step process dump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11475720" y="64922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c7080"/>
                </a:solidFill>
                <a:latin typeface="Arial"/>
                <a:ea typeface="Arial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b2a35"/>
                </a:solidFill>
                <a:latin typeface="Arial"/>
                <a:ea typeface="Arial"/>
              </a:rPr>
              <a:t>Every answer carries audit-grade provenance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1737360" y="1234440"/>
            <a:ext cx="8713800" cy="566640"/>
          </a:xfrm>
          <a:prstGeom prst="roundRect">
            <a:avLst>
              <a:gd name="adj" fmla="val 16129"/>
            </a:avLst>
          </a:prstGeom>
          <a:solidFill>
            <a:srgbClr val="eef2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1737360" y="1234440"/>
            <a:ext cx="871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5563"/>
                </a:solidFill>
                <a:latin typeface="Courier New"/>
                <a:ea typeface="Courier New"/>
              </a:rPr>
              <a:t>[specs/q3.pptx  |  slide 11  |  Req_L0_SRS_Overall_8-V01]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48640" y="2148840"/>
            <a:ext cx="5394600" cy="1755360"/>
          </a:xfrm>
          <a:prstGeom prst="roundRect">
            <a:avLst>
              <a:gd name="adj" fmla="val 5208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804600" y="240480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Image 0" descr="icons/FiMapPin_028090.png"/>
          <p:cNvPicPr/>
          <p:nvPr/>
        </p:nvPicPr>
        <p:blipFill>
          <a:blip r:embed="rId1"/>
          <a:stretch/>
        </p:blipFill>
        <p:spPr>
          <a:xfrm>
            <a:off x="899640" y="24998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118" name="Text 5"/>
          <p:cNvSpPr/>
          <p:nvPr/>
        </p:nvSpPr>
        <p:spPr>
          <a:xfrm>
            <a:off x="1444680" y="238644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35"/>
                </a:solidFill>
                <a:latin typeface="Arial"/>
                <a:ea typeface="Arial"/>
              </a:rPr>
              <a:t>Stamped at parse time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1444680" y="2734200"/>
            <a:ext cx="42516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a4a55"/>
                </a:solidFill>
                <a:latin typeface="Arial"/>
                <a:ea typeface="Arial"/>
              </a:rPr>
              <a:t>Source file, slide / page, section and even bounding box are captured during ingestion and stored in deterministic tables — never reconstructed by an LLM afterwards.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6245280" y="2148840"/>
            <a:ext cx="5394600" cy="1755360"/>
          </a:xfrm>
          <a:prstGeom prst="roundRect">
            <a:avLst>
              <a:gd name="adj" fmla="val 5208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6501240" y="240480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Image 1" descr="icons/FiDatabase_028090.png"/>
          <p:cNvPicPr/>
          <p:nvPr/>
        </p:nvPicPr>
        <p:blipFill>
          <a:blip r:embed="rId2"/>
          <a:stretch/>
        </p:blipFill>
        <p:spPr>
          <a:xfrm>
            <a:off x="6596640" y="24998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123" name="Text 9"/>
          <p:cNvSpPr/>
          <p:nvPr/>
        </p:nvSpPr>
        <p:spPr>
          <a:xfrm>
            <a:off x="7141320" y="238644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35"/>
                </a:solidFill>
                <a:latin typeface="Arial"/>
                <a:ea typeface="Arial"/>
              </a:rPr>
              <a:t>Indexed with the text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7141320" y="2734200"/>
            <a:ext cx="42516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a4a55"/>
                </a:solidFill>
                <a:latin typeface="Arial"/>
                <a:ea typeface="Arial"/>
              </a:rPr>
              <a:t>The citation header is physically part of each chunk, so vector and keyword retrieval always return passages pre-stamped with their verified origin.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548640" y="4069080"/>
            <a:ext cx="5394600" cy="1755360"/>
          </a:xfrm>
          <a:prstGeom prst="roundRect">
            <a:avLst>
              <a:gd name="adj" fmla="val 5208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2"/>
          <p:cNvSpPr/>
          <p:nvPr/>
        </p:nvSpPr>
        <p:spPr>
          <a:xfrm>
            <a:off x="804600" y="432504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2" descr="icons/FiHash_028090.png"/>
          <p:cNvPicPr/>
          <p:nvPr/>
        </p:nvPicPr>
        <p:blipFill>
          <a:blip r:embed="rId3"/>
          <a:stretch/>
        </p:blipFill>
        <p:spPr>
          <a:xfrm>
            <a:off x="899640" y="442008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128" name="Text 13"/>
          <p:cNvSpPr/>
          <p:nvPr/>
        </p:nvSpPr>
        <p:spPr>
          <a:xfrm>
            <a:off x="1444680" y="430668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35"/>
                </a:solidFill>
                <a:latin typeface="Arial"/>
                <a:ea typeface="Arial"/>
              </a:rPr>
              <a:t>Exact ID lookup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1444680" y="4654440"/>
            <a:ext cx="42516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a4a55"/>
                </a:solidFill>
                <a:latin typeface="Arial"/>
                <a:ea typeface="Arial"/>
              </a:rPr>
              <a:t>Requirement UIDs (SYS-REQ-0042, SWE.1-BR-17) resolve through an exact SQL join on a dedicated chunk_uid table — bypassing semantic ranking errors entirely.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6245280" y="4069080"/>
            <a:ext cx="5394600" cy="1755360"/>
          </a:xfrm>
          <a:prstGeom prst="roundRect">
            <a:avLst>
              <a:gd name="adj" fmla="val 5208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6501240" y="432504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Image 3" descr="icons/FiTarget_028090.png"/>
          <p:cNvPicPr/>
          <p:nvPr/>
        </p:nvPicPr>
        <p:blipFill>
          <a:blip r:embed="rId4"/>
          <a:stretch/>
        </p:blipFill>
        <p:spPr>
          <a:xfrm>
            <a:off x="6596640" y="442008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133" name="Text 17"/>
          <p:cNvSpPr/>
          <p:nvPr/>
        </p:nvSpPr>
        <p:spPr>
          <a:xfrm>
            <a:off x="7141320" y="430668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35"/>
                </a:solidFill>
                <a:latin typeface="Arial"/>
                <a:ea typeface="Arial"/>
              </a:rPr>
              <a:t>Numbers users can check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8"/>
          <p:cNvSpPr/>
          <p:nvPr/>
        </p:nvSpPr>
        <p:spPr>
          <a:xfrm>
            <a:off x="7141320" y="4654440"/>
            <a:ext cx="42516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a4a55"/>
                </a:solidFill>
                <a:latin typeface="Arial"/>
                <a:ea typeface="Arial"/>
              </a:rPr>
              <a:t>Physical vs printed slide numbers are reconciled (firstSlideNum), so a cited slide matches what the reader sees. Graph answers cite exact node names too.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548640" y="603504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a35"/>
                </a:solidFill>
                <a:latin typeface="Arial"/>
                <a:ea typeface="Arial"/>
              </a:rPr>
              <a:t>For auditors: </a:t>
            </a: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“show me the official slide where this rule is stated” is answered instantly — e.g. </a:t>
            </a:r>
            <a:r>
              <a:rPr b="0" i="1" lang="en-US" sz="1200" spc="-1" strike="noStrike">
                <a:solidFill>
                  <a:srgbClr val="0b5563"/>
                </a:solidFill>
                <a:latin typeface="Arial"/>
                <a:ea typeface="Arial"/>
              </a:rPr>
              <a:t>“Produced by: Verification Process (Step 3.1: Code Review)”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0"/>
          <p:cNvSpPr/>
          <p:nvPr/>
        </p:nvSpPr>
        <p:spPr>
          <a:xfrm>
            <a:off x="11475720" y="64922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c7080"/>
                </a:solidFill>
                <a:latin typeface="Arial"/>
                <a:ea typeface="Arial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b2a35"/>
                </a:solidFill>
                <a:latin typeface="Arial"/>
                <a:ea typeface="Arial"/>
              </a:rPr>
              <a:t>Nothing in a deck is invisible to it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"/>
          <p:cNvSpPr/>
          <p:nvPr/>
        </p:nvSpPr>
        <p:spPr>
          <a:xfrm>
            <a:off x="548640" y="1371600"/>
            <a:ext cx="511560" cy="511560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Image 0" descr="icons/FiAlignLeft_028090.png"/>
          <p:cNvPicPr/>
          <p:nvPr/>
        </p:nvPicPr>
        <p:blipFill>
          <a:blip r:embed="rId1"/>
          <a:stretch/>
        </p:blipFill>
        <p:spPr>
          <a:xfrm>
            <a:off x="650880" y="14738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40" name="Text 2"/>
          <p:cNvSpPr/>
          <p:nvPr/>
        </p:nvSpPr>
        <p:spPr>
          <a:xfrm>
            <a:off x="1280160" y="129852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a35"/>
                </a:solidFill>
                <a:latin typeface="Arial"/>
                <a:ea typeface="Arial"/>
              </a:rPr>
              <a:t>Human reading order rebuilt  —  </a:t>
            </a: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from 2D spatial geometry — multi-column slides and grouped shapes are never scrambled.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548640" y="2340720"/>
            <a:ext cx="511560" cy="511560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Image 1" descr="icons/FiShare2_028090.png"/>
          <p:cNvPicPr/>
          <p:nvPr/>
        </p:nvPicPr>
        <p:blipFill>
          <a:blip r:embed="rId2"/>
          <a:stretch/>
        </p:blipFill>
        <p:spPr>
          <a:xfrm>
            <a:off x="650880" y="2443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43" name="Text 4"/>
          <p:cNvSpPr/>
          <p:nvPr/>
        </p:nvSpPr>
        <p:spPr>
          <a:xfrm>
            <a:off x="1280160" y="226764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a35"/>
                </a:solidFill>
                <a:latin typeface="Arial"/>
                <a:ea typeface="Arial"/>
              </a:rPr>
              <a:t>SmartArt &amp; diagrams extracted  —  </a:t>
            </a: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from underlying DrawingML parts (diagramData) that standard Python libraries skip.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548640" y="3310200"/>
            <a:ext cx="511560" cy="511560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Image 2" descr="icons/FiBarChart2_028090.png"/>
          <p:cNvPicPr/>
          <p:nvPr/>
        </p:nvPicPr>
        <p:blipFill>
          <a:blip r:embed="rId3"/>
          <a:stretch/>
        </p:blipFill>
        <p:spPr>
          <a:xfrm>
            <a:off x="650880" y="3412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46" name="Text 6"/>
          <p:cNvSpPr/>
          <p:nvPr/>
        </p:nvSpPr>
        <p:spPr>
          <a:xfrm>
            <a:off x="1280160" y="323712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a35"/>
                </a:solidFill>
                <a:latin typeface="Arial"/>
                <a:ea typeface="Arial"/>
              </a:rPr>
              <a:t>Charts read as data  —  </a:t>
            </a: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series names, category labels and values taken straight from cached chart XML.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548640" y="4279320"/>
            <a:ext cx="511560" cy="511560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Image 3" descr="icons/FiPaperclip_028090.png"/>
          <p:cNvPicPr/>
          <p:nvPr/>
        </p:nvPicPr>
        <p:blipFill>
          <a:blip r:embed="rId4"/>
          <a:stretch/>
        </p:blipFill>
        <p:spPr>
          <a:xfrm>
            <a:off x="650880" y="43819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49" name="Text 8"/>
          <p:cNvSpPr/>
          <p:nvPr/>
        </p:nvSpPr>
        <p:spPr>
          <a:xfrm>
            <a:off x="1280160" y="420624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a35"/>
                </a:solidFill>
                <a:latin typeface="Arial"/>
                <a:ea typeface="Arial"/>
              </a:rPr>
              <a:t>Embedded files isolated  —  </a:t>
            </a: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Excel workbooks, Word docs and PDFs recovered into a SHA-256 AssetStore with deterministic location tokens — full content parsing staged for Phase 2.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9"/>
          <p:cNvSpPr/>
          <p:nvPr/>
        </p:nvSpPr>
        <p:spPr>
          <a:xfrm>
            <a:off x="548640" y="5248800"/>
            <a:ext cx="511560" cy="511560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Image 4" descr="icons/FiHash_028090.png"/>
          <p:cNvPicPr/>
          <p:nvPr/>
        </p:nvPicPr>
        <p:blipFill>
          <a:blip r:embed="rId5"/>
          <a:stretch/>
        </p:blipFill>
        <p:spPr>
          <a:xfrm>
            <a:off x="650880" y="53510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52" name="Text 10"/>
          <p:cNvSpPr/>
          <p:nvPr/>
        </p:nvSpPr>
        <p:spPr>
          <a:xfrm>
            <a:off x="1280160" y="517536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a35"/>
                </a:solidFill>
                <a:latin typeface="Arial"/>
                <a:ea typeface="Arial"/>
              </a:rPr>
              <a:t>Requirement IDs preserved  —  </a:t>
            </a: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canonical UIDs plus tokenizer-safe split variants — exact ID search always works.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7635240" y="1371600"/>
            <a:ext cx="4004640" cy="4845960"/>
          </a:xfrm>
          <a:prstGeom prst="roundRect">
            <a:avLst>
              <a:gd name="adj" fmla="val 2283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7955280" y="1691640"/>
            <a:ext cx="566640" cy="566640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Image 5" descr="icons/FiShield_028090.png"/>
          <p:cNvPicPr/>
          <p:nvPr/>
        </p:nvPicPr>
        <p:blipFill>
          <a:blip r:embed="rId6"/>
          <a:stretch/>
        </p:blipFill>
        <p:spPr>
          <a:xfrm>
            <a:off x="8068680" y="1805040"/>
            <a:ext cx="339840" cy="339840"/>
          </a:xfrm>
          <a:prstGeom prst="rect">
            <a:avLst/>
          </a:prstGeom>
          <a:ln w="0">
            <a:noFill/>
          </a:ln>
        </p:spPr>
      </p:pic>
      <p:sp>
        <p:nvSpPr>
          <p:cNvPr id="156" name="Text 13"/>
          <p:cNvSpPr/>
          <p:nvPr/>
        </p:nvSpPr>
        <p:spPr>
          <a:xfrm>
            <a:off x="8459280" y="1667160"/>
            <a:ext cx="336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5563"/>
                </a:solidFill>
                <a:latin typeface="Arial"/>
                <a:ea typeface="Arial"/>
              </a:rPr>
              <a:t>Ready for real-world scale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7955280" y="2523240"/>
            <a:ext cx="34102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799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3a4a55"/>
                </a:solidFill>
                <a:latin typeface="Arial"/>
                <a:ea typeface="Arial"/>
              </a:rPr>
              <a:t>Ingests thousands of decks in one run — parsing runs in parallel across CPU cores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799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3a4a55"/>
                </a:solidFill>
                <a:latin typeface="Arial"/>
                <a:ea typeface="Arial"/>
              </a:rPr>
              <a:t>If a run is interrupted, it resumes exactly where it stopped — nothing is re-processed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799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3a4a55"/>
                </a:solidFill>
                <a:latin typeface="Arial"/>
                <a:ea typeface="Arial"/>
              </a:rPr>
              <a:t>Files from outside partners can be ingested safely — protection against malicious or corrupted documents is built in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799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3a4a55"/>
                </a:solidFill>
                <a:latin typeface="Arial"/>
                <a:ea typeface="Arial"/>
              </a:rPr>
              <a:t>Old (.ppt) and new (.pptx) PowerPoint formats handled automatically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11475720" y="64922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c7080"/>
                </a:solidFill>
                <a:latin typeface="Arial"/>
                <a:ea typeface="Arial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b2a35"/>
                </a:solidFill>
                <a:latin typeface="Arial"/>
                <a:ea typeface="Arial"/>
              </a:rPr>
              <a:t>Lean on tokens, tight on security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548640" y="1371600"/>
            <a:ext cx="5394600" cy="4800240"/>
          </a:xfrm>
          <a:prstGeom prst="roundRect">
            <a:avLst>
              <a:gd name="adj" fmla="val 1905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868680" y="1691640"/>
            <a:ext cx="566640" cy="566640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0" descr="icons/FiZap_028090.png"/>
          <p:cNvPicPr/>
          <p:nvPr/>
        </p:nvPicPr>
        <p:blipFill>
          <a:blip r:embed="rId1"/>
          <a:stretch/>
        </p:blipFill>
        <p:spPr>
          <a:xfrm>
            <a:off x="982080" y="1805040"/>
            <a:ext cx="339840" cy="339840"/>
          </a:xfrm>
          <a:prstGeom prst="rect">
            <a:avLst/>
          </a:prstGeom>
          <a:ln w="0">
            <a:noFill/>
          </a:ln>
        </p:spPr>
      </p:pic>
      <p:sp>
        <p:nvSpPr>
          <p:cNvPr id="163" name="Text 3"/>
          <p:cNvSpPr/>
          <p:nvPr/>
        </p:nvSpPr>
        <p:spPr>
          <a:xfrm>
            <a:off x="1600200" y="1691640"/>
            <a:ext cx="4023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35"/>
                </a:solidFill>
                <a:latin typeface="Arial"/>
                <a:ea typeface="Arial"/>
              </a:rPr>
              <a:t>Token-efficient by design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914400" y="2514600"/>
            <a:ext cx="470880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12000"/>
              </a:lnSpc>
              <a:spcAft>
                <a:spcPts val="9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Structural queries: zero LLM tokens — answered inside the database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9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Retrieval fetches top-15 candidates, reranker compresses to the best 5 before any prompt is built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9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Duplicate titles &amp; repeated deck boilerplate (logos, footers, confidentiality notices) stripped before indexing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9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Symbol-font noise (Wingdings &amp; co.) filtered into metadata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9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Context breadcrumbs bounded to 120 chars — no oversized headers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6245280" y="1371600"/>
            <a:ext cx="5394600" cy="4800240"/>
          </a:xfrm>
          <a:prstGeom prst="roundRect">
            <a:avLst>
              <a:gd name="adj" fmla="val 1905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6565320" y="1691640"/>
            <a:ext cx="566640" cy="566640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 1" descr="icons/FiLock_028090.png"/>
          <p:cNvPicPr/>
          <p:nvPr/>
        </p:nvPicPr>
        <p:blipFill>
          <a:blip r:embed="rId2"/>
          <a:stretch/>
        </p:blipFill>
        <p:spPr>
          <a:xfrm>
            <a:off x="6678720" y="1805040"/>
            <a:ext cx="339840" cy="339840"/>
          </a:xfrm>
          <a:prstGeom prst="rect">
            <a:avLst/>
          </a:prstGeom>
          <a:ln w="0">
            <a:noFill/>
          </a:ln>
        </p:spPr>
      </p:pic>
      <p:sp>
        <p:nvSpPr>
          <p:cNvPr id="168" name="Text 7"/>
          <p:cNvSpPr/>
          <p:nvPr/>
        </p:nvSpPr>
        <p:spPr>
          <a:xfrm>
            <a:off x="7296840" y="1691640"/>
            <a:ext cx="4023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35"/>
                </a:solidFill>
                <a:latin typeface="Arial"/>
                <a:ea typeface="Arial"/>
              </a:rPr>
              <a:t>Local-first &amp; policy-compliant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6611040" y="2514600"/>
            <a:ext cx="470880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12000"/>
              </a:lnSpc>
              <a:spcAft>
                <a:spcPts val="9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Retrieval stack runs fully on-premise: embedded ArcadeDB, local embedding model (nomic-embed-text-v1.5) and local reranker (ms-marco-MiniLM)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9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Zero cloud API calls for search, reranking and graph answers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9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Narrative answers are generated only through the company’s official corporate AI (Gemini via LiteAi) — no unapproved external services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2000"/>
              </a:lnSpc>
              <a:spcAft>
                <a:spcPts val="9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Unvetted supplier decks and vendor attachments can be ingested safely (hardened parsers)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11475720" y="64922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c7080"/>
                </a:solidFill>
                <a:latin typeface="Arial"/>
                <a:ea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b2a35"/>
                </a:solidFill>
                <a:latin typeface="Arial"/>
                <a:ea typeface="Arial"/>
              </a:rPr>
              <a:t>Validated pilot — real scope, real sign-off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548640" y="1325880"/>
            <a:ext cx="5760360" cy="3885840"/>
          </a:xfrm>
          <a:prstGeom prst="roundRect">
            <a:avLst>
              <a:gd name="adj" fmla="val 2353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868680" y="1645920"/>
            <a:ext cx="566640" cy="566640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Image 0" descr="icons/FiDatabase_028090.png"/>
          <p:cNvPicPr/>
          <p:nvPr/>
        </p:nvPicPr>
        <p:blipFill>
          <a:blip r:embed="rId1"/>
          <a:stretch/>
        </p:blipFill>
        <p:spPr>
          <a:xfrm>
            <a:off x="982080" y="1759320"/>
            <a:ext cx="339840" cy="339840"/>
          </a:xfrm>
          <a:prstGeom prst="rect">
            <a:avLst/>
          </a:prstGeom>
          <a:ln w="0">
            <a:noFill/>
          </a:ln>
        </p:spPr>
      </p:pic>
      <p:sp>
        <p:nvSpPr>
          <p:cNvPr id="175" name="Text 3"/>
          <p:cNvSpPr/>
          <p:nvPr/>
        </p:nvSpPr>
        <p:spPr>
          <a:xfrm>
            <a:off x="1600200" y="1645920"/>
            <a:ext cx="4480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35"/>
                </a:solidFill>
                <a:latin typeface="Arial"/>
                <a:ea typeface="Arial"/>
              </a:rPr>
              <a:t>Ingested today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914400" y="2423160"/>
            <a:ext cx="50745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14000"/>
              </a:lnSpc>
              <a:spcAft>
                <a:spcPts val="10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Full Signavio repository — all process models, plus the official Signavio Dictionary Index for term &amp; attribute resolution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4000"/>
              </a:lnSpc>
              <a:spcAft>
                <a:spcPts val="10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ASPICE workflows structured end-to-end: SWE.1 (Software Requirements Analysis) and SWE.2 (Software Architectural Design)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14000"/>
              </a:lnSpc>
              <a:spcAft>
                <a:spcPts val="1001"/>
              </a:spcAft>
              <a:buClr>
                <a:srgbClr val="3a4a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a4a55"/>
                </a:solidFill>
                <a:latin typeface="Arial"/>
                <a:ea typeface="Arial"/>
              </a:rPr>
              <a:t>High-level Signavio flows linked to detailed PowerPoint specification decks and requirement trace matrices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537960" y="1325880"/>
            <a:ext cx="5101920" cy="3885840"/>
          </a:xfrm>
          <a:prstGeom prst="roundRect">
            <a:avLst>
              <a:gd name="adj" fmla="val 2353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6"/>
          <p:cNvSpPr/>
          <p:nvPr/>
        </p:nvSpPr>
        <p:spPr>
          <a:xfrm>
            <a:off x="6858000" y="1645920"/>
            <a:ext cx="566640" cy="566640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Image 1" descr="icons/FiUsers_028090.png"/>
          <p:cNvPicPr/>
          <p:nvPr/>
        </p:nvPicPr>
        <p:blipFill>
          <a:blip r:embed="rId2"/>
          <a:stretch/>
        </p:blipFill>
        <p:spPr>
          <a:xfrm>
            <a:off x="6971400" y="1759320"/>
            <a:ext cx="339840" cy="339840"/>
          </a:xfrm>
          <a:prstGeom prst="rect">
            <a:avLst/>
          </a:prstGeom>
          <a:ln w="0">
            <a:noFill/>
          </a:ln>
        </p:spPr>
      </p:pic>
      <p:sp>
        <p:nvSpPr>
          <p:cNvPr id="180" name="Text 7"/>
          <p:cNvSpPr/>
          <p:nvPr/>
        </p:nvSpPr>
        <p:spPr>
          <a:xfrm>
            <a:off x="7589520" y="1645920"/>
            <a:ext cx="3840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5563"/>
                </a:solidFill>
                <a:latin typeface="Arial"/>
                <a:ea typeface="Arial"/>
              </a:rPr>
              <a:t>Tested &amp; signed off by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6903720" y="2212920"/>
            <a:ext cx="43887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080" spc="-1" strike="noStrike">
                <a:solidFill>
                  <a:srgbClr val="1b2a35"/>
                </a:solidFill>
                <a:latin typeface="Arial"/>
                <a:ea typeface="Arial"/>
              </a:rPr>
              <a:t>Amr Mohamed — Process Owner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a4a55"/>
                </a:solidFill>
                <a:latin typeface="Arial"/>
                <a:ea typeface="Arial"/>
              </a:rPr>
              <a:t>7 incremental test sessions: Signavio export → retrieval, Dictionary Index, process documents.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6903720" y="3127320"/>
            <a:ext cx="4388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080" spc="-1" strike="noStrike">
                <a:solidFill>
                  <a:srgbClr val="1b2a35"/>
                </a:solidFill>
                <a:latin typeface="Arial"/>
                <a:ea typeface="Arial"/>
              </a:rPr>
              <a:t>Wael Kadry — Chief Architect, Cairo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a4a55"/>
                </a:solidFill>
                <a:latin typeface="Arial"/>
                <a:ea typeface="Arial"/>
              </a:rPr>
              <a:t>Spot-checked architectural traceability (SWE.1 ↔ SWE.2 ↔ spec decks).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6903720" y="387720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080" spc="-1" strike="noStrike">
                <a:solidFill>
                  <a:srgbClr val="1b2a35"/>
                </a:solidFill>
                <a:latin typeface="Arial"/>
                <a:ea typeface="Arial"/>
              </a:rPr>
              <a:t>Abdelrahman Abbas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a4a55"/>
                </a:solidFill>
                <a:latin typeface="Arial"/>
                <a:ea typeface="Arial"/>
              </a:rPr>
              <a:t>Independent checks on process Q&amp;A accuracy.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6903720" y="4553640"/>
            <a:ext cx="4389120" cy="360"/>
          </a:xfrm>
          <a:prstGeom prst="line">
            <a:avLst/>
          </a:prstGeom>
          <a:ln w="12700">
            <a:solidFill>
              <a:srgbClr val="bcdc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6903720" y="46450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5563"/>
                </a:solidFill>
                <a:latin typeface="Arial"/>
                <a:ea typeface="Arial"/>
              </a:rPr>
              <a:t>Turnkey deployment: </a:t>
            </a:r>
            <a:r>
              <a:rPr b="0" lang="en-US" sz="1150" spc="-1" strike="noStrike">
                <a:solidFill>
                  <a:srgbClr val="3a4a55"/>
                </a:solidFill>
                <a:latin typeface="Arial"/>
                <a:ea typeface="Arial"/>
              </a:rPr>
              <a:t>models &amp; embedded DB pre-bundled — the user only enters credentials.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548640" y="5440680"/>
            <a:ext cx="5394600" cy="776880"/>
          </a:xfrm>
          <a:prstGeom prst="roundRect">
            <a:avLst>
              <a:gd name="adj" fmla="val 11765"/>
            </a:avLst>
          </a:prstGeom>
          <a:solidFill>
            <a:srgbClr val="f3f7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822960" y="5440680"/>
            <a:ext cx="4891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Arial"/>
                <a:ea typeface="Arial"/>
              </a:rPr>
              <a:t>97.8%  </a:t>
            </a:r>
            <a:r>
              <a:rPr b="0" lang="en-US" sz="1150" spc="-1" strike="noStrike">
                <a:solidFill>
                  <a:srgbClr val="3a4a55"/>
                </a:solidFill>
                <a:latin typeface="Arial"/>
                <a:ea typeface="Arial"/>
              </a:rPr>
              <a:t>retrieval accuracy on the development eval — incl. needle-in-haystack &amp; multi-hop questions*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5"/>
          <p:cNvSpPr/>
          <p:nvPr/>
        </p:nvSpPr>
        <p:spPr>
          <a:xfrm>
            <a:off x="6245280" y="5440680"/>
            <a:ext cx="5394600" cy="776880"/>
          </a:xfrm>
          <a:prstGeom prst="roundRect">
            <a:avLst>
              <a:gd name="adj" fmla="val 11765"/>
            </a:avLst>
          </a:prstGeom>
          <a:solidFill>
            <a:srgbClr val="f3f7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6519600" y="5440680"/>
            <a:ext cx="4891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Arial"/>
                <a:ea typeface="Arial"/>
              </a:rPr>
              <a:t>Minutes → seconds  </a:t>
            </a:r>
            <a:r>
              <a:rPr b="0" lang="en-US" sz="1150" spc="-1" strike="noStrike">
                <a:solidFill>
                  <a:srgbClr val="3a4a55"/>
                </a:solidFill>
                <a:latin typeface="Arial"/>
                <a:ea typeface="Arial"/>
              </a:rPr>
              <a:t>per process-rule lookup, with exact citation (estimated)*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548640" y="630936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c7080"/>
                </a:solidFill>
                <a:latin typeface="Arial"/>
                <a:ea typeface="Arial"/>
              </a:rPr>
              <a:t>* Accuracy from an automated (AI-judged) evaluation — 20 generated questions per document; time savings are internal estimates. Both to be re-measured during rollout.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11475720" y="64922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c7080"/>
                </a:solidFill>
                <a:latin typeface="Arial"/>
                <a:ea typeface="Arial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b2a35"/>
                </a:solidFill>
                <a:latin typeface="Arial"/>
                <a:ea typeface="Arial"/>
              </a:rPr>
              <a:t>Standard RAG vs Lite-KB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3" name="Table 0"/>
          <p:cNvGraphicFramePr/>
          <p:nvPr/>
        </p:nvGraphicFramePr>
        <p:xfrm>
          <a:off x="548640" y="1371600"/>
          <a:ext cx="11091240" cy="460836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  <a:gridCol w="4416480"/>
              </a:tblGrid>
              <a:tr h="511920"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Capability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Standard document RAG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Lite-KB + ppt_parser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511920"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BPMN / Signavio models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✗  </a:t>
                      </a:r>
                      <a:r>
                        <a:rPr b="0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Flat text conversion only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28090"/>
                          </a:solidFill>
                          <a:latin typeface="Arial"/>
                          <a:ea typeface="Arial"/>
                        </a:rPr>
                        <a:t>✓  </a:t>
                      </a:r>
                      <a:r>
                        <a:rPr b="0" lang="en-US" sz="1100" spc="-1" strike="noStrike">
                          <a:solidFill>
                            <a:srgbClr val="1b2a35"/>
                          </a:solidFill>
                          <a:latin typeface="Arial"/>
                          <a:ea typeface="Arial"/>
                        </a:rPr>
                        <a:t>Native graph + live MCP sync &amp; diff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Step order &amp; RACI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77700"/>
                          </a:solidFill>
                          <a:latin typeface="Arial"/>
                          <a:ea typeface="Arial"/>
                        </a:rPr>
                        <a:t>Low — </a:t>
                      </a:r>
                      <a:r>
                        <a:rPr b="0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hallucination-prone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28090"/>
                          </a:solidFill>
                          <a:latin typeface="Arial"/>
                          <a:ea typeface="Arial"/>
                        </a:rPr>
                        <a:t>✓  </a:t>
                      </a:r>
                      <a:r>
                        <a:rPr b="0" lang="en-US" sz="1100" spc="-1" strike="noStrike">
                          <a:solidFill>
                            <a:srgbClr val="1b2a35"/>
                          </a:solidFill>
                          <a:latin typeface="Arial"/>
                          <a:ea typeface="Arial"/>
                        </a:rPr>
                        <a:t>100% deterministic graph queries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SmartArt &amp; cached charts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✗  </a:t>
                      </a:r>
                      <a:r>
                        <a:rPr b="0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Skipped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28090"/>
                          </a:solidFill>
                          <a:latin typeface="Arial"/>
                          <a:ea typeface="Arial"/>
                        </a:rPr>
                        <a:t>✓  </a:t>
                      </a:r>
                      <a:r>
                        <a:rPr b="0" lang="en-US" sz="1100" spc="-1" strike="noStrike">
                          <a:solidFill>
                            <a:srgbClr val="1b2a35"/>
                          </a:solidFill>
                          <a:latin typeface="Arial"/>
                          <a:ea typeface="Arial"/>
                        </a:rPr>
                        <a:t>Extracted via direct OOXML parsing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Embedded Excel / Word / PDF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✗  </a:t>
                      </a:r>
                      <a:r>
                        <a:rPr b="0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Ignored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28090"/>
                          </a:solidFill>
                          <a:latin typeface="Arial"/>
                          <a:ea typeface="Arial"/>
                        </a:rPr>
                        <a:t>✓  </a:t>
                      </a:r>
                      <a:r>
                        <a:rPr b="0" lang="en-US" sz="1100" spc="-1" strike="noStrike">
                          <a:solidFill>
                            <a:srgbClr val="1b2a35"/>
                          </a:solidFill>
                          <a:latin typeface="Arial"/>
                          <a:ea typeface="Arial"/>
                        </a:rPr>
                        <a:t>Isolated &amp; position-stamped — content parsing: Phase 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Requirement IDs (UIDs)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✗  </a:t>
                      </a:r>
                      <a:r>
                        <a:rPr b="0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Shredded by the tokenizer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28090"/>
                          </a:solidFill>
                          <a:latin typeface="Arial"/>
                          <a:ea typeface="Arial"/>
                        </a:rPr>
                        <a:t>✓  </a:t>
                      </a:r>
                      <a:r>
                        <a:rPr b="0" lang="en-US" sz="1100" spc="-1" strike="noStrike">
                          <a:solidFill>
                            <a:srgbClr val="1b2a35"/>
                          </a:solidFill>
                          <a:latin typeface="Arial"/>
                          <a:ea typeface="Arial"/>
                        </a:rPr>
                        <a:t>Canonical index + automated trace graphs (DERIVE / VERIFY / SATISFY)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Handling untrusted files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✗  </a:t>
                      </a:r>
                      <a:r>
                        <a:rPr b="0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Vulnerable to malicious documents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28090"/>
                          </a:solidFill>
                          <a:latin typeface="Arial"/>
                          <a:ea typeface="Arial"/>
                        </a:rPr>
                        <a:t>✓  </a:t>
                      </a:r>
                      <a:r>
                        <a:rPr b="0" lang="en-US" sz="1100" spc="-1" strike="noStrike">
                          <a:solidFill>
                            <a:srgbClr val="1b2a35"/>
                          </a:solidFill>
                          <a:latin typeface="Arial"/>
                          <a:ea typeface="Arial"/>
                        </a:rPr>
                        <a:t>Safe ingestion — protections built in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Citations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✗  </a:t>
                      </a:r>
                      <a:r>
                        <a:rPr b="0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Best-effort, unverified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28090"/>
                          </a:solidFill>
                          <a:latin typeface="Arial"/>
                          <a:ea typeface="Arial"/>
                        </a:rPr>
                        <a:t>✓  </a:t>
                      </a:r>
                      <a:r>
                        <a:rPr b="0" lang="en-US" sz="1100" spc="-1" strike="noStrike">
                          <a:solidFill>
                            <a:srgbClr val="1b2a35"/>
                          </a:solidFill>
                          <a:latin typeface="Arial"/>
                          <a:ea typeface="Arial"/>
                        </a:rPr>
                        <a:t>Exact file · slide · section, pre-stamped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Visual output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0392b"/>
                          </a:solidFill>
                          <a:latin typeface="Arial"/>
                          <a:ea typeface="Arial"/>
                        </a:rPr>
                        <a:t>✗  </a:t>
                      </a:r>
                      <a:r>
                        <a:rPr b="0" lang="en-US" sz="1100" spc="-1" strike="noStrike">
                          <a:solidFill>
                            <a:srgbClr val="3a4a55"/>
                          </a:solidFill>
                          <a:latin typeface="Arial"/>
                          <a:ea typeface="Arial"/>
                        </a:rPr>
                        <a:t>Text only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5472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28090"/>
                          </a:solidFill>
                          <a:latin typeface="Arial"/>
                          <a:ea typeface="Arial"/>
                        </a:rPr>
                        <a:t>✓  </a:t>
                      </a:r>
                      <a:r>
                        <a:rPr b="0" lang="en-US" sz="1100" spc="-1" strike="noStrike">
                          <a:solidFill>
                            <a:srgbClr val="1b2a35"/>
                          </a:solidFill>
                          <a:latin typeface="Arial"/>
                          <a:ea typeface="Arial"/>
                        </a:rPr>
                        <a:t>On-demand Mermaid flowcharts &amp; IGOE views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0e6"/>
                      </a:solidFill>
                      <a:prstDash val="solid"/>
                    </a:lnL>
                    <a:lnR w="9360">
                      <a:solidFill>
                        <a:srgbClr val="d7e0e6"/>
                      </a:solidFill>
                      <a:prstDash val="solid"/>
                    </a:lnR>
                    <a:lnT w="9360">
                      <a:solidFill>
                        <a:srgbClr val="d7e0e6"/>
                      </a:solidFill>
                      <a:prstDash val="solid"/>
                    </a:lnT>
                    <a:lnB w="9360">
                      <a:solidFill>
                        <a:srgbClr val="d7e0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4" name="Text 1"/>
          <p:cNvSpPr/>
          <p:nvPr/>
        </p:nvSpPr>
        <p:spPr>
          <a:xfrm>
            <a:off x="11475720" y="64922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c7080"/>
                </a:solidFill>
                <a:latin typeface="Arial"/>
                <a:ea typeface="Arial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rial"/>
                <a:ea typeface="Arial"/>
              </a:rPr>
              <a:t>Where this goes next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"/>
          <p:cNvSpPr/>
          <p:nvPr/>
        </p:nvSpPr>
        <p:spPr>
          <a:xfrm>
            <a:off x="548640" y="1280160"/>
            <a:ext cx="3483360" cy="3337200"/>
          </a:xfrm>
          <a:prstGeom prst="roundRect">
            <a:avLst>
              <a:gd name="adj" fmla="val 2740"/>
            </a:avLst>
          </a:prstGeom>
          <a:solidFill>
            <a:srgbClr val="1730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7" name="Image 0" descr="icons/FiCheckCircle_4FD1C5.png"/>
          <p:cNvPicPr/>
          <p:nvPr/>
        </p:nvPicPr>
        <p:blipFill>
          <a:blip r:embed="rId1"/>
          <a:stretch/>
        </p:blipFill>
        <p:spPr>
          <a:xfrm>
            <a:off x="868680" y="16275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98" name="Text 2"/>
          <p:cNvSpPr/>
          <p:nvPr/>
        </p:nvSpPr>
        <p:spPr>
          <a:xfrm>
            <a:off x="868680" y="2240280"/>
            <a:ext cx="284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4fd1c5"/>
                </a:solidFill>
                <a:latin typeface="Arial"/>
                <a:ea typeface="Arial"/>
              </a:rPr>
              <a:t>Phase 1 — Delivered ✓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868680" y="2670120"/>
            <a:ext cx="2843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c9d6de"/>
                </a:solidFill>
                <a:latin typeface="Arial"/>
                <a:ea typeface="Arial"/>
              </a:rPr>
              <a:t>Validated pilot: full Signavio repository + Dictionary Index, SWE.1 &amp; SWE.2 structured, expert-validated by process owner &amp; chief architect.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4"/>
          <p:cNvSpPr/>
          <p:nvPr/>
        </p:nvSpPr>
        <p:spPr>
          <a:xfrm>
            <a:off x="4352400" y="1280160"/>
            <a:ext cx="3483360" cy="3337200"/>
          </a:xfrm>
          <a:prstGeom prst="roundRect">
            <a:avLst>
              <a:gd name="adj" fmla="val 2740"/>
            </a:avLst>
          </a:prstGeom>
          <a:solidFill>
            <a:srgbClr val="1730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Image 1" descr="icons/FiRefreshCw_4FD1C5.png"/>
          <p:cNvPicPr/>
          <p:nvPr/>
        </p:nvPicPr>
        <p:blipFill>
          <a:blip r:embed="rId2"/>
          <a:stretch/>
        </p:blipFill>
        <p:spPr>
          <a:xfrm>
            <a:off x="4672440" y="16275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202" name="Text 5"/>
          <p:cNvSpPr/>
          <p:nvPr/>
        </p:nvSpPr>
        <p:spPr>
          <a:xfrm>
            <a:off x="4672440" y="2240280"/>
            <a:ext cx="284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4fd1c5"/>
                </a:solidFill>
                <a:latin typeface="Arial"/>
                <a:ea typeface="Arial"/>
              </a:rPr>
              <a:t>Phase 2 — Next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4672440" y="2670120"/>
            <a:ext cx="2843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c9d6de"/>
                </a:solidFill>
                <a:latin typeface="Arial"/>
                <a:ea typeface="Arial"/>
              </a:rPr>
              <a:t>Ingest SOPs, PDF &amp; Word procedures; parse embedded file payloads; add image / OCR ingestion; expand SWE.1 / SWE.2 trace graphs to engineering SOPs; background live sync.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7"/>
          <p:cNvSpPr/>
          <p:nvPr/>
        </p:nvSpPr>
        <p:spPr>
          <a:xfrm>
            <a:off x="8156520" y="1280160"/>
            <a:ext cx="3483360" cy="3337200"/>
          </a:xfrm>
          <a:prstGeom prst="roundRect">
            <a:avLst>
              <a:gd name="adj" fmla="val 2740"/>
            </a:avLst>
          </a:prstGeom>
          <a:solidFill>
            <a:srgbClr val="1730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5" name="Image 2" descr="icons/FiTrendingUp_4FD1C5.png"/>
          <p:cNvPicPr/>
          <p:nvPr/>
        </p:nvPicPr>
        <p:blipFill>
          <a:blip r:embed="rId3"/>
          <a:stretch/>
        </p:blipFill>
        <p:spPr>
          <a:xfrm>
            <a:off x="8476560" y="16275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206" name="Text 8"/>
          <p:cNvSpPr/>
          <p:nvPr/>
        </p:nvSpPr>
        <p:spPr>
          <a:xfrm>
            <a:off x="8476560" y="2240280"/>
            <a:ext cx="284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4fd1c5"/>
                </a:solidFill>
                <a:latin typeface="Arial"/>
                <a:ea typeface="Arial"/>
              </a:rPr>
              <a:t>Phase 3 — Scale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8476560" y="2670120"/>
            <a:ext cx="2843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c9d6de"/>
                </a:solidFill>
                <a:latin typeface="Arial"/>
                <a:ea typeface="Arial"/>
              </a:rPr>
              <a:t>Roll out across engineering, quality and audit teams; automated ISO / ASPICE traceability &amp; compliance reporting.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548640" y="5029200"/>
            <a:ext cx="11091240" cy="1142640"/>
          </a:xfrm>
          <a:prstGeom prst="roundRect">
            <a:avLst>
              <a:gd name="adj" fmla="val 96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3" descr="icons/FiFlag_FFFFFF.png"/>
          <p:cNvPicPr/>
          <p:nvPr/>
        </p:nvPicPr>
        <p:blipFill>
          <a:blip r:embed="rId4"/>
          <a:stretch/>
        </p:blipFill>
        <p:spPr>
          <a:xfrm>
            <a:off x="914400" y="53766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210" name="Text 11"/>
          <p:cNvSpPr/>
          <p:nvPr/>
        </p:nvSpPr>
        <p:spPr>
          <a:xfrm>
            <a:off x="1600200" y="5029200"/>
            <a:ext cx="9783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The ask:  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approval to publish — Lite-KB is already staged on a LiteAi marketplace branch — plus a prioritized list of the next process documents for Phase 2.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5"/>
          <a:stretch/>
        </p:blipFill>
        <p:spPr>
          <a:xfrm>
            <a:off x="10287000" y="72000"/>
            <a:ext cx="1742400" cy="91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548640" y="274320"/>
            <a:ext cx="1109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b2a35"/>
                </a:solidFill>
                <a:latin typeface="Arial"/>
                <a:ea typeface="Arial"/>
              </a:rPr>
              <a:t>Backup — evidence &amp; governance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"/>
          <p:cNvSpPr/>
          <p:nvPr/>
        </p:nvSpPr>
        <p:spPr>
          <a:xfrm>
            <a:off x="548640" y="1280160"/>
            <a:ext cx="5394600" cy="251424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"/>
          <p:cNvSpPr/>
          <p:nvPr/>
        </p:nvSpPr>
        <p:spPr>
          <a:xfrm>
            <a:off x="804600" y="153612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Image 0" descr="icons/FiTarget_028090.png"/>
          <p:cNvPicPr/>
          <p:nvPr/>
        </p:nvPicPr>
        <p:blipFill>
          <a:blip r:embed="rId1"/>
          <a:stretch/>
        </p:blipFill>
        <p:spPr>
          <a:xfrm>
            <a:off x="899640" y="16311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216" name="Text 3"/>
          <p:cNvSpPr/>
          <p:nvPr/>
        </p:nvSpPr>
        <p:spPr>
          <a:xfrm>
            <a:off x="1444680" y="151776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35"/>
                </a:solidFill>
                <a:latin typeface="Arial"/>
                <a:ea typeface="Arial"/>
              </a:rPr>
              <a:t>How it was tested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914400" y="1993320"/>
            <a:ext cx="4663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a4a55"/>
                </a:solidFill>
                <a:latin typeface="Arial"/>
                <a:ea typeface="Arial"/>
              </a:rPr>
              <a:t>Phase-gated: 7 incremental sessions by the process owner (Signavio export → retrieval, Dictionary Index, process documents), plus independent spot checks by Wael Kadry and Abdelrahman Abbas. Development eval: 20 AI-generated questions per document — incl. needle-in-haystack and multi-document, multi-hop retrieval → 97.8% accuracy (automated AI-judged evaluation; question set available). Each next phase gets the same test gate.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6245280" y="1280160"/>
            <a:ext cx="5394600" cy="251424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6"/>
          <p:cNvSpPr/>
          <p:nvPr/>
        </p:nvSpPr>
        <p:spPr>
          <a:xfrm>
            <a:off x="6501240" y="153612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Image 1" descr="icons/FiShield_028090.png"/>
          <p:cNvPicPr/>
          <p:nvPr/>
        </p:nvPicPr>
        <p:blipFill>
          <a:blip r:embed="rId2"/>
          <a:stretch/>
        </p:blipFill>
        <p:spPr>
          <a:xfrm>
            <a:off x="6596640" y="16311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221" name="Text 7"/>
          <p:cNvSpPr/>
          <p:nvPr/>
        </p:nvSpPr>
        <p:spPr>
          <a:xfrm>
            <a:off x="7141320" y="151776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35"/>
                </a:solidFill>
                <a:latin typeface="Arial"/>
                <a:ea typeface="Arial"/>
              </a:rPr>
              <a:t>Process integrity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6611040" y="1993320"/>
            <a:ext cx="4663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a4a55"/>
                </a:solidFill>
                <a:latin typeface="Arial"/>
                <a:ea typeface="Arial"/>
              </a:rPr>
              <a:t>Lite-KB is a complementary lookup tool, not a step of the process itself: it never creates, modifies or approves any deliverable, so it cannot introduce or hide defects. Every answer carries an exact citation, so users always verify against the official source.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548640" y="3977640"/>
            <a:ext cx="5394600" cy="251424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0"/>
          <p:cNvSpPr/>
          <p:nvPr/>
        </p:nvSpPr>
        <p:spPr>
          <a:xfrm>
            <a:off x="804600" y="423360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Image 2" descr="icons/FiLock_028090.png"/>
          <p:cNvPicPr/>
          <p:nvPr/>
        </p:nvPicPr>
        <p:blipFill>
          <a:blip r:embed="rId3"/>
          <a:stretch/>
        </p:blipFill>
        <p:spPr>
          <a:xfrm>
            <a:off x="899640" y="4328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226" name="Text 11"/>
          <p:cNvSpPr/>
          <p:nvPr/>
        </p:nvSpPr>
        <p:spPr>
          <a:xfrm>
            <a:off x="1444680" y="421524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35"/>
                </a:solidFill>
                <a:latin typeface="Arial"/>
                <a:ea typeface="Arial"/>
              </a:rPr>
              <a:t>Data &amp; access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914400" y="4690800"/>
            <a:ext cx="4663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a4a55"/>
                </a:solidFill>
                <a:latin typeface="Arial"/>
                <a:ea typeface="Arial"/>
              </a:rPr>
              <a:t>Ingested process content is public within the company — no trade secrets or restricted material in the knowledge base. Retrieval runs locally on the user’s machine; narrative answers go only through the official corporate AI (Gemini), never unapproved services.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6245280" y="3977640"/>
            <a:ext cx="5394600" cy="251424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7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4"/>
          <p:cNvSpPr/>
          <p:nvPr/>
        </p:nvSpPr>
        <p:spPr>
          <a:xfrm>
            <a:off x="6501240" y="4233600"/>
            <a:ext cx="475200" cy="475200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Image 3" descr="icons/FiDatabase_028090.png"/>
          <p:cNvPicPr/>
          <p:nvPr/>
        </p:nvPicPr>
        <p:blipFill>
          <a:blip r:embed="rId4"/>
          <a:stretch/>
        </p:blipFill>
        <p:spPr>
          <a:xfrm>
            <a:off x="6596640" y="4328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231" name="Text 15"/>
          <p:cNvSpPr/>
          <p:nvPr/>
        </p:nvSpPr>
        <p:spPr>
          <a:xfrm>
            <a:off x="7141320" y="421524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a35"/>
                </a:solidFill>
                <a:latin typeface="Arial"/>
                <a:ea typeface="Arial"/>
              </a:rPr>
              <a:t>Why this stack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6"/>
          <p:cNvSpPr/>
          <p:nvPr/>
        </p:nvSpPr>
        <p:spPr>
          <a:xfrm>
            <a:off x="6611040" y="4690800"/>
            <a:ext cx="4663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a4a55"/>
                </a:solidFill>
                <a:latin typeface="Arial"/>
                <a:ea typeface="Arial"/>
              </a:rPr>
              <a:t>ArcadeDB: native graph + vector in one embedded database — no server to operate, one-click install, auto-answer keeps token cost near zero. And why not the corporate AI alone? The official Gemini gem is capped at ~10 documents — far below our multi-hundred-slide corpus. Lite-KB is what lets the approved corporate AI work at repository scale.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11475720" y="64922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c7080"/>
                </a:solidFill>
                <a:latin typeface="Arial"/>
                <a:ea typeface="Arial"/>
              </a:rPr>
              <a:t>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2026-09-13T15:18:18Z</dcterms:created>
  <dc:creator>PptxGenJS</dc:creator>
  <dc:description/>
  <dc:language>en-US</dc:language>
  <cp:lastModifiedBy/>
  <dcterms:modified xsi:type="dcterms:W3CDTF">2026-09-13T19:07:14Z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